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8" r:id="rId1"/>
  </p:sldMasterIdLst>
  <p:notesMasterIdLst>
    <p:notesMasterId r:id="rId58"/>
  </p:notesMasterIdLst>
  <p:sldIdLst>
    <p:sldId id="347" r:id="rId2"/>
    <p:sldId id="348" r:id="rId3"/>
    <p:sldId id="256" r:id="rId4"/>
    <p:sldId id="349" r:id="rId5"/>
    <p:sldId id="350" r:id="rId6"/>
    <p:sldId id="268" r:id="rId7"/>
    <p:sldId id="269" r:id="rId8"/>
    <p:sldId id="351" r:id="rId9"/>
    <p:sldId id="270" r:id="rId10"/>
    <p:sldId id="271" r:id="rId11"/>
    <p:sldId id="272" r:id="rId12"/>
    <p:sldId id="273" r:id="rId13"/>
    <p:sldId id="274" r:id="rId14"/>
    <p:sldId id="276" r:id="rId15"/>
    <p:sldId id="277" r:id="rId16"/>
    <p:sldId id="278" r:id="rId17"/>
    <p:sldId id="279" r:id="rId18"/>
    <p:sldId id="280" r:id="rId19"/>
    <p:sldId id="343" r:id="rId20"/>
    <p:sldId id="344" r:id="rId21"/>
    <p:sldId id="345" r:id="rId22"/>
    <p:sldId id="346"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4" r:id="rId36"/>
    <p:sldId id="293" r:id="rId37"/>
    <p:sldId id="295" r:id="rId38"/>
    <p:sldId id="296" r:id="rId39"/>
    <p:sldId id="297" r:id="rId40"/>
    <p:sldId id="298" r:id="rId41"/>
    <p:sldId id="299" r:id="rId42"/>
    <p:sldId id="300" r:id="rId43"/>
    <p:sldId id="302" r:id="rId44"/>
    <p:sldId id="301" r:id="rId45"/>
    <p:sldId id="304" r:id="rId46"/>
    <p:sldId id="305" r:id="rId47"/>
    <p:sldId id="306" r:id="rId48"/>
    <p:sldId id="307" r:id="rId49"/>
    <p:sldId id="308" r:id="rId50"/>
    <p:sldId id="309" r:id="rId51"/>
    <p:sldId id="310" r:id="rId52"/>
    <p:sldId id="313" r:id="rId53"/>
    <p:sldId id="312" r:id="rId54"/>
    <p:sldId id="311" r:id="rId55"/>
    <p:sldId id="321" r:id="rId56"/>
    <p:sldId id="322"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DEE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36" autoAdjust="0"/>
    <p:restoredTop sz="93738" autoAdjust="0"/>
  </p:normalViewPr>
  <p:slideViewPr>
    <p:cSldViewPr snapToGrid="0" snapToObjects="1">
      <p:cViewPr varScale="1">
        <p:scale>
          <a:sx n="70" d="100"/>
          <a:sy n="70" d="100"/>
        </p:scale>
        <p:origin x="120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EB12C0-241F-44A6-BCEA-97E2CBB8E9EB}" type="datetimeFigureOut">
              <a:rPr lang="en-IN" smtClean="0"/>
              <a:t>01-08-2026</a:t>
            </a:fld>
            <a:endParaRPr lang="en-IN"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57AFF1-1A95-42AD-A818-ED1D1D50249A}" type="slidenum">
              <a:rPr lang="en-IN" smtClean="0"/>
              <a:t>‹#›</a:t>
            </a:fld>
            <a:endParaRPr lang="en-IN" dirty="0"/>
          </a:p>
        </p:txBody>
      </p:sp>
    </p:spTree>
    <p:extLst>
      <p:ext uri="{BB962C8B-B14F-4D97-AF65-F5344CB8AC3E}">
        <p14:creationId xmlns:p14="http://schemas.microsoft.com/office/powerpoint/2010/main" val="2036953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57AFF1-1A95-42AD-A818-ED1D1D50249A}" type="slidenum">
              <a:rPr lang="en-IN" smtClean="0"/>
              <a:t>52</a:t>
            </a:fld>
            <a:endParaRPr lang="en-IN" dirty="0"/>
          </a:p>
        </p:txBody>
      </p:sp>
    </p:spTree>
    <p:extLst>
      <p:ext uri="{BB962C8B-B14F-4D97-AF65-F5344CB8AC3E}">
        <p14:creationId xmlns:p14="http://schemas.microsoft.com/office/powerpoint/2010/main" val="4291709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3610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685330" y="2367093"/>
            <a:ext cx="777287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00648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895092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52228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Content Placeholder 3"/>
          <p:cNvSpPr>
            <a:spLocks noGrp="1"/>
          </p:cNvSpPr>
          <p:nvPr>
            <p:ph sz="quarter" idx="13"/>
          </p:nvPr>
        </p:nvSpPr>
        <p:spPr>
          <a:xfrm>
            <a:off x="685331" y="3051013"/>
            <a:ext cx="3829520"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3" name="Content Placeholder 5"/>
          <p:cNvSpPr>
            <a:spLocks noGrp="1"/>
          </p:cNvSpPr>
          <p:nvPr>
            <p:ph sz="quarter" idx="14"/>
          </p:nvPr>
        </p:nvSpPr>
        <p:spPr>
          <a:xfrm>
            <a:off x="4629150" y="3051013"/>
            <a:ext cx="3829051" cy="2740187"/>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35276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686109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8380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215545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409177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4186893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758006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874355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126924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4435012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2679507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2579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5400753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79127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5BCAD085-E8A6-8845-BD4E-CB4CCA059FC4}" type="datetimeFigureOut">
              <a:rPr lang="en-US" smtClean="0"/>
              <a:t>8/1/2026</a:t>
            </a:fld>
            <a:endParaRPr lang="en-US" dirty="0"/>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3976447256"/>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 id="2147483919" r:id="rId11"/>
    <p:sldLayoutId id="2147483920" r:id="rId12"/>
    <p:sldLayoutId id="2147483921" r:id="rId13"/>
    <p:sldLayoutId id="2147483922" r:id="rId14"/>
    <p:sldLayoutId id="2147483923" r:id="rId15"/>
    <p:sldLayoutId id="2147483924" r:id="rId16"/>
    <p:sldLayoutId id="2147483925" r:id="rId17"/>
    <p:sldLayoutId id="2147483926"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hyperlink" Target="mailto:pratap@gmail.com"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3360" y="1294039"/>
            <a:ext cx="6448567" cy="4093428"/>
          </a:xfrm>
          <a:prstGeom prst="rect">
            <a:avLst/>
          </a:prstGeom>
        </p:spPr>
        <p:txBody>
          <a:bodyPr wrap="square">
            <a:spAutoFit/>
          </a:bodyPr>
          <a:lstStyle/>
          <a:p>
            <a:r>
              <a:rPr lang="en-US" sz="2400" b="1" dirty="0"/>
              <a:t>1. What is Data?</a:t>
            </a:r>
          </a:p>
          <a:p>
            <a:endParaRPr lang="en-US" b="1" dirty="0"/>
          </a:p>
          <a:p>
            <a:r>
              <a:rPr lang="en-US" sz="2000" b="1" dirty="0"/>
              <a:t>Data</a:t>
            </a:r>
            <a:r>
              <a:rPr lang="en-US" sz="2000" dirty="0"/>
              <a:t> is a collection of raw facts, figures, numbers, text, images, audio, or videos that have not yet been processed into meaningful information</a:t>
            </a:r>
            <a:r>
              <a:rPr lang="en-US" sz="2000" dirty="0" smtClean="0"/>
              <a:t>.</a:t>
            </a:r>
          </a:p>
          <a:p>
            <a:endParaRPr lang="en-US" dirty="0"/>
          </a:p>
          <a:p>
            <a:r>
              <a:rPr lang="en-US" sz="2000" b="1" dirty="0"/>
              <a:t>Examples</a:t>
            </a:r>
          </a:p>
          <a:p>
            <a:pPr>
              <a:buFont typeface="Arial" panose="020B0604020202020204" pitchFamily="34" charset="0"/>
              <a:buChar char="•"/>
            </a:pPr>
            <a:r>
              <a:rPr lang="en-US" sz="2000" dirty="0"/>
              <a:t>Rahul </a:t>
            </a:r>
          </a:p>
          <a:p>
            <a:pPr>
              <a:buFont typeface="Arial" panose="020B0604020202020204" pitchFamily="34" charset="0"/>
              <a:buChar char="•"/>
            </a:pPr>
            <a:r>
              <a:rPr lang="en-US" sz="2000" dirty="0"/>
              <a:t>25 </a:t>
            </a:r>
          </a:p>
          <a:p>
            <a:pPr>
              <a:buFont typeface="Arial" panose="020B0604020202020204" pitchFamily="34" charset="0"/>
              <a:buChar char="•"/>
            </a:pPr>
            <a:r>
              <a:rPr lang="en-US" sz="2000" dirty="0"/>
              <a:t>Pune </a:t>
            </a:r>
          </a:p>
          <a:p>
            <a:pPr>
              <a:buFont typeface="Arial" panose="020B0604020202020204" pitchFamily="34" charset="0"/>
              <a:buChar char="•"/>
            </a:pPr>
            <a:r>
              <a:rPr lang="en-US" sz="2000" dirty="0"/>
              <a:t>₹45,000 </a:t>
            </a:r>
          </a:p>
          <a:p>
            <a:pPr>
              <a:buFont typeface="Arial" panose="020B0604020202020204" pitchFamily="34" charset="0"/>
              <a:buChar char="•"/>
            </a:pPr>
            <a:r>
              <a:rPr lang="en-US" sz="2000" dirty="0"/>
              <a:t>9876543210 </a:t>
            </a:r>
          </a:p>
          <a:p>
            <a:r>
              <a:rPr lang="en-US" sz="2000" dirty="0"/>
              <a:t>These are all pieces of data.</a:t>
            </a:r>
          </a:p>
        </p:txBody>
      </p:sp>
    </p:spTree>
    <p:extLst>
      <p:ext uri="{BB962C8B-B14F-4D97-AF65-F5344CB8AC3E}">
        <p14:creationId xmlns:p14="http://schemas.microsoft.com/office/powerpoint/2010/main" val="1943048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6883" y="1018612"/>
            <a:ext cx="7322024" cy="3108543"/>
          </a:xfrm>
          <a:prstGeom prst="rect">
            <a:avLst/>
          </a:prstGeom>
        </p:spPr>
        <p:txBody>
          <a:bodyPr wrap="square">
            <a:spAutoFit/>
          </a:bodyPr>
          <a:lstStyle/>
          <a:p>
            <a:r>
              <a:rPr lang="en-US" sz="2000" b="1" dirty="0"/>
              <a:t>2. What is Information</a:t>
            </a:r>
            <a:r>
              <a:rPr lang="en-US" sz="2000" b="1" dirty="0" smtClean="0"/>
              <a:t>?</a:t>
            </a:r>
          </a:p>
          <a:p>
            <a:endParaRPr lang="en-US" sz="2000" b="1" dirty="0"/>
          </a:p>
          <a:p>
            <a:r>
              <a:rPr lang="en-US" sz="2000" dirty="0"/>
              <a:t>Information is processed, organized, and meaningful data that helps in making decisions</a:t>
            </a:r>
            <a:r>
              <a:rPr lang="en-US" sz="2000" dirty="0" smtClean="0"/>
              <a:t>.</a:t>
            </a:r>
          </a:p>
          <a:p>
            <a:endParaRPr lang="en-US" dirty="0"/>
          </a:p>
          <a:p>
            <a:r>
              <a:rPr lang="en-US" sz="2000" dirty="0"/>
              <a:t>Information</a:t>
            </a:r>
          </a:p>
          <a:p>
            <a:r>
              <a:rPr lang="en-US" sz="2000" dirty="0"/>
              <a:t>Average Salary = ₹57,500 </a:t>
            </a:r>
          </a:p>
          <a:p>
            <a:r>
              <a:rPr lang="en-US" sz="2000" dirty="0"/>
              <a:t>Highest Salary = ₹65,000 </a:t>
            </a:r>
          </a:p>
          <a:p>
            <a:r>
              <a:rPr lang="en-US" sz="2000" dirty="0"/>
              <a:t>Total Employees = 2</a:t>
            </a:r>
          </a:p>
          <a:p>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92430464"/>
              </p:ext>
            </p:extLst>
          </p:nvPr>
        </p:nvGraphicFramePr>
        <p:xfrm>
          <a:off x="1166883" y="4083024"/>
          <a:ext cx="4974609" cy="1995762"/>
        </p:xfrm>
        <a:graphic>
          <a:graphicData uri="http://schemas.openxmlformats.org/drawingml/2006/table">
            <a:tbl>
              <a:tblPr firstRow="1" bandRow="1">
                <a:tableStyleId>{5C22544A-7EE6-4342-B048-85BDC9FD1C3A}</a:tableStyleId>
              </a:tblPr>
              <a:tblGrid>
                <a:gridCol w="1658203">
                  <a:extLst>
                    <a:ext uri="{9D8B030D-6E8A-4147-A177-3AD203B41FA5}">
                      <a16:colId xmlns:a16="http://schemas.microsoft.com/office/drawing/2014/main" val="1489262142"/>
                    </a:ext>
                  </a:extLst>
                </a:gridCol>
                <a:gridCol w="1658203">
                  <a:extLst>
                    <a:ext uri="{9D8B030D-6E8A-4147-A177-3AD203B41FA5}">
                      <a16:colId xmlns:a16="http://schemas.microsoft.com/office/drawing/2014/main" val="2448258695"/>
                    </a:ext>
                  </a:extLst>
                </a:gridCol>
                <a:gridCol w="1658203">
                  <a:extLst>
                    <a:ext uri="{9D8B030D-6E8A-4147-A177-3AD203B41FA5}">
                      <a16:colId xmlns:a16="http://schemas.microsoft.com/office/drawing/2014/main" val="1807876485"/>
                    </a:ext>
                  </a:extLst>
                </a:gridCol>
              </a:tblGrid>
              <a:tr h="665254">
                <a:tc>
                  <a:txBody>
                    <a:bodyPr/>
                    <a:lstStyle/>
                    <a:p>
                      <a:pPr algn="ctr"/>
                      <a:r>
                        <a:rPr lang="en-IN" dirty="0"/>
                        <a:t>Name</a:t>
                      </a:r>
                    </a:p>
                  </a:txBody>
                  <a:tcPr anchor="ctr"/>
                </a:tc>
                <a:tc>
                  <a:txBody>
                    <a:bodyPr/>
                    <a:lstStyle/>
                    <a:p>
                      <a:pPr algn="ctr"/>
                      <a:r>
                        <a:rPr lang="en-IN"/>
                        <a:t>Age</a:t>
                      </a:r>
                    </a:p>
                  </a:txBody>
                  <a:tcPr anchor="ctr"/>
                </a:tc>
                <a:tc>
                  <a:txBody>
                    <a:bodyPr/>
                    <a:lstStyle/>
                    <a:p>
                      <a:pPr algn="ctr"/>
                      <a:r>
                        <a:rPr lang="en-IN" dirty="0"/>
                        <a:t>Salary</a:t>
                      </a:r>
                    </a:p>
                  </a:txBody>
                  <a:tcPr anchor="ctr"/>
                </a:tc>
                <a:extLst>
                  <a:ext uri="{0D108BD9-81ED-4DB2-BD59-A6C34878D82A}">
                    <a16:rowId xmlns:a16="http://schemas.microsoft.com/office/drawing/2014/main" val="1303081406"/>
                  </a:ext>
                </a:extLst>
              </a:tr>
              <a:tr h="665254">
                <a:tc>
                  <a:txBody>
                    <a:bodyPr/>
                    <a:lstStyle/>
                    <a:p>
                      <a:pPr algn="ctr"/>
                      <a:r>
                        <a:rPr lang="en-IN" dirty="0"/>
                        <a:t>Rahul</a:t>
                      </a:r>
                    </a:p>
                  </a:txBody>
                  <a:tcPr anchor="ctr"/>
                </a:tc>
                <a:tc>
                  <a:txBody>
                    <a:bodyPr/>
                    <a:lstStyle/>
                    <a:p>
                      <a:pPr algn="ctr"/>
                      <a:r>
                        <a:rPr lang="en-IN" dirty="0"/>
                        <a:t>25</a:t>
                      </a:r>
                    </a:p>
                  </a:txBody>
                  <a:tcPr anchor="ctr"/>
                </a:tc>
                <a:tc>
                  <a:txBody>
                    <a:bodyPr/>
                    <a:lstStyle/>
                    <a:p>
                      <a:pPr algn="ctr"/>
                      <a:r>
                        <a:rPr lang="en-IN"/>
                        <a:t>50000</a:t>
                      </a:r>
                    </a:p>
                  </a:txBody>
                  <a:tcPr anchor="ctr"/>
                </a:tc>
                <a:extLst>
                  <a:ext uri="{0D108BD9-81ED-4DB2-BD59-A6C34878D82A}">
                    <a16:rowId xmlns:a16="http://schemas.microsoft.com/office/drawing/2014/main" val="2095339444"/>
                  </a:ext>
                </a:extLst>
              </a:tr>
              <a:tr h="665254">
                <a:tc>
                  <a:txBody>
                    <a:bodyPr/>
                    <a:lstStyle/>
                    <a:p>
                      <a:pPr algn="ctr"/>
                      <a:r>
                        <a:rPr lang="en-IN"/>
                        <a:t>Priya</a:t>
                      </a:r>
                    </a:p>
                  </a:txBody>
                  <a:tcPr anchor="ctr"/>
                </a:tc>
                <a:tc>
                  <a:txBody>
                    <a:bodyPr/>
                    <a:lstStyle/>
                    <a:p>
                      <a:pPr algn="ctr"/>
                      <a:r>
                        <a:rPr lang="en-IN" dirty="0"/>
                        <a:t>28</a:t>
                      </a:r>
                    </a:p>
                  </a:txBody>
                  <a:tcPr anchor="ctr"/>
                </a:tc>
                <a:tc>
                  <a:txBody>
                    <a:bodyPr/>
                    <a:lstStyle/>
                    <a:p>
                      <a:pPr algn="ctr"/>
                      <a:r>
                        <a:rPr lang="en-IN" dirty="0"/>
                        <a:t>65000</a:t>
                      </a:r>
                    </a:p>
                  </a:txBody>
                  <a:tcPr anchor="ctr"/>
                </a:tc>
                <a:extLst>
                  <a:ext uri="{0D108BD9-81ED-4DB2-BD59-A6C34878D82A}">
                    <a16:rowId xmlns:a16="http://schemas.microsoft.com/office/drawing/2014/main" val="4148756194"/>
                  </a:ext>
                </a:extLst>
              </a:tr>
            </a:tbl>
          </a:graphicData>
        </a:graphic>
      </p:graphicFrame>
    </p:spTree>
    <p:extLst>
      <p:ext uri="{BB962C8B-B14F-4D97-AF65-F5344CB8AC3E}">
        <p14:creationId xmlns:p14="http://schemas.microsoft.com/office/powerpoint/2010/main" val="13783016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770769"/>
            <a:ext cx="7055380" cy="1400530"/>
          </a:xfrm>
        </p:spPr>
        <p:txBody>
          <a:bodyPr/>
          <a:lstStyle/>
          <a:p>
            <a:r>
              <a:rPr lang="en-US" sz="3600" b="1" dirty="0" smtClean="0"/>
              <a:t>  </a:t>
            </a:r>
            <a:endParaRPr sz="3600" b="1" dirty="0"/>
          </a:p>
        </p:txBody>
      </p:sp>
      <p:sp>
        <p:nvSpPr>
          <p:cNvPr id="3" name="Content Placeholder 2"/>
          <p:cNvSpPr>
            <a:spLocks noGrp="1"/>
          </p:cNvSpPr>
          <p:nvPr>
            <p:ph idx="1"/>
          </p:nvPr>
        </p:nvSpPr>
        <p:spPr>
          <a:xfrm>
            <a:off x="249382" y="972270"/>
            <a:ext cx="8658892" cy="5096021"/>
          </a:xfrm>
        </p:spPr>
        <p:txBody>
          <a:bodyPr>
            <a:normAutofit lnSpcReduction="10000"/>
          </a:bodyPr>
          <a:lstStyle/>
          <a:p>
            <a:pPr marL="0" indent="0">
              <a:lnSpc>
                <a:spcPct val="150000"/>
              </a:lnSpc>
              <a:buNone/>
            </a:pPr>
            <a:r>
              <a:rPr lang="en-IN" sz="3600" b="1" dirty="0" smtClean="0"/>
              <a:t>Database</a:t>
            </a:r>
            <a:endParaRPr lang="en-US" sz="3600" b="1" dirty="0"/>
          </a:p>
          <a:p>
            <a:pPr algn="just">
              <a:lnSpc>
                <a:spcPct val="150000"/>
              </a:lnSpc>
              <a:buFont typeface="Wingdings" panose="05000000000000000000" pitchFamily="2" charset="2"/>
              <a:buChar char="Ø"/>
            </a:pPr>
            <a:r>
              <a:rPr lang="en-US" sz="2400" dirty="0"/>
              <a:t>A Database is an organized collection of data stored electronically so it can be easily accessed, managed, and </a:t>
            </a:r>
            <a:r>
              <a:rPr lang="en-US" sz="2400" dirty="0" smtClean="0"/>
              <a:t>updated.</a:t>
            </a:r>
          </a:p>
          <a:p>
            <a:pPr algn="just">
              <a:lnSpc>
                <a:spcPct val="150000"/>
              </a:lnSpc>
              <a:buFont typeface="Wingdings" panose="05000000000000000000" pitchFamily="2" charset="2"/>
              <a:buChar char="Ø"/>
            </a:pPr>
            <a:r>
              <a:rPr lang="en-US" sz="2400" b="1" dirty="0" smtClean="0"/>
              <a:t>Example</a:t>
            </a:r>
            <a:r>
              <a:rPr lang="en-US" sz="2400" b="1" dirty="0"/>
              <a:t>:</a:t>
            </a:r>
          </a:p>
          <a:p>
            <a:pPr algn="just">
              <a:lnSpc>
                <a:spcPct val="150000"/>
              </a:lnSpc>
              <a:buFont typeface="Wingdings" panose="05000000000000000000" pitchFamily="2" charset="2"/>
              <a:buChar char="Ø"/>
            </a:pPr>
            <a:r>
              <a:rPr lang="en-US" sz="2400" dirty="0"/>
              <a:t>Student records in a </a:t>
            </a:r>
            <a:r>
              <a:rPr lang="en-US" sz="2400" dirty="0" smtClean="0"/>
              <a:t>college. </a:t>
            </a:r>
            <a:endParaRPr lang="en-US" sz="2400" dirty="0"/>
          </a:p>
          <a:p>
            <a:pPr algn="just">
              <a:lnSpc>
                <a:spcPct val="150000"/>
              </a:lnSpc>
              <a:buFont typeface="Wingdings" panose="05000000000000000000" pitchFamily="2" charset="2"/>
              <a:buChar char="Ø"/>
            </a:pPr>
            <a:r>
              <a:rPr lang="en-US" sz="2400" dirty="0"/>
              <a:t>Bank account </a:t>
            </a:r>
            <a:r>
              <a:rPr lang="en-US" sz="2400" dirty="0" smtClean="0"/>
              <a:t>details. </a:t>
            </a:r>
            <a:endParaRPr lang="en-US" sz="2400" dirty="0"/>
          </a:p>
          <a:p>
            <a:pPr algn="just">
              <a:lnSpc>
                <a:spcPct val="150000"/>
              </a:lnSpc>
              <a:buFont typeface="Wingdings" panose="05000000000000000000" pitchFamily="2" charset="2"/>
              <a:buChar char="Ø"/>
            </a:pPr>
            <a:r>
              <a:rPr lang="en-US" sz="2400" dirty="0"/>
              <a:t>E-commerce product data </a:t>
            </a:r>
            <a:r>
              <a:rPr lang="en-US" sz="2400" dirty="0" smtClean="0"/>
              <a: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08078" y="1258839"/>
            <a:ext cx="6025486" cy="3785652"/>
          </a:xfrm>
          <a:prstGeom prst="rect">
            <a:avLst/>
          </a:prstGeom>
        </p:spPr>
        <p:txBody>
          <a:bodyPr wrap="square">
            <a:spAutoFit/>
          </a:bodyPr>
          <a:lstStyle/>
          <a:p>
            <a:r>
              <a:rPr lang="en-US" sz="2000" b="1" dirty="0"/>
              <a:t>Advantages of </a:t>
            </a:r>
            <a:r>
              <a:rPr lang="en-US" sz="2000" b="1" dirty="0" smtClean="0"/>
              <a:t>Database</a:t>
            </a:r>
          </a:p>
          <a:p>
            <a:endParaRPr lang="en-US" sz="2000" b="1" dirty="0"/>
          </a:p>
          <a:p>
            <a:pPr>
              <a:buFont typeface="Arial" panose="020B0604020202020204" pitchFamily="34" charset="0"/>
              <a:buChar char="•"/>
            </a:pPr>
            <a:r>
              <a:rPr lang="en-US" sz="2000" dirty="0"/>
              <a:t>Centralized storage </a:t>
            </a:r>
          </a:p>
          <a:p>
            <a:pPr>
              <a:buFont typeface="Arial" panose="020B0604020202020204" pitchFamily="34" charset="0"/>
              <a:buChar char="•"/>
            </a:pPr>
            <a:r>
              <a:rPr lang="en-US" sz="2000" dirty="0"/>
              <a:t>Fast data retrieval </a:t>
            </a:r>
          </a:p>
          <a:p>
            <a:pPr>
              <a:buFont typeface="Arial" panose="020B0604020202020204" pitchFamily="34" charset="0"/>
              <a:buChar char="•"/>
            </a:pPr>
            <a:r>
              <a:rPr lang="en-US" sz="2000" dirty="0"/>
              <a:t>Easy updates </a:t>
            </a:r>
          </a:p>
          <a:p>
            <a:pPr>
              <a:buFont typeface="Arial" panose="020B0604020202020204" pitchFamily="34" charset="0"/>
              <a:buChar char="•"/>
            </a:pPr>
            <a:r>
              <a:rPr lang="en-US" sz="2000" dirty="0"/>
              <a:t>Data security </a:t>
            </a:r>
          </a:p>
          <a:p>
            <a:pPr>
              <a:buFont typeface="Arial" panose="020B0604020202020204" pitchFamily="34" charset="0"/>
              <a:buChar char="•"/>
            </a:pPr>
            <a:r>
              <a:rPr lang="en-US" sz="2000" dirty="0"/>
              <a:t>Data consistency </a:t>
            </a:r>
          </a:p>
          <a:p>
            <a:pPr>
              <a:buFont typeface="Arial" panose="020B0604020202020204" pitchFamily="34" charset="0"/>
              <a:buChar char="•"/>
            </a:pPr>
            <a:r>
              <a:rPr lang="en-US" sz="2000" dirty="0"/>
              <a:t>Reduced duplication </a:t>
            </a:r>
          </a:p>
          <a:p>
            <a:pPr>
              <a:buFont typeface="Arial" panose="020B0604020202020204" pitchFamily="34" charset="0"/>
              <a:buChar char="•"/>
            </a:pPr>
            <a:r>
              <a:rPr lang="en-US" sz="2000" dirty="0"/>
              <a:t>Backup and recovery </a:t>
            </a:r>
          </a:p>
          <a:p>
            <a:pPr>
              <a:buFont typeface="Arial" panose="020B0604020202020204" pitchFamily="34" charset="0"/>
              <a:buChar char="•"/>
            </a:pPr>
            <a:r>
              <a:rPr lang="en-US" sz="2000" dirty="0"/>
              <a:t>Multi-user access </a:t>
            </a:r>
          </a:p>
          <a:p>
            <a:pPr>
              <a:buFont typeface="Arial" panose="020B0604020202020204" pitchFamily="34" charset="0"/>
              <a:buChar char="•"/>
            </a:pPr>
            <a:r>
              <a:rPr lang="en-US" sz="2000" dirty="0"/>
              <a:t>Data sharing </a:t>
            </a:r>
          </a:p>
          <a:p>
            <a:pPr>
              <a:buFont typeface="Arial" panose="020B0604020202020204" pitchFamily="34" charset="0"/>
              <a:buChar char="•"/>
            </a:pPr>
            <a:r>
              <a:rPr lang="en-US" sz="2000" dirty="0"/>
              <a:t>Better decision making</a:t>
            </a:r>
          </a:p>
        </p:txBody>
      </p:sp>
    </p:spTree>
    <p:extLst>
      <p:ext uri="{BB962C8B-B14F-4D97-AF65-F5344CB8AC3E}">
        <p14:creationId xmlns:p14="http://schemas.microsoft.com/office/powerpoint/2010/main" val="190229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53485" y="1079158"/>
            <a:ext cx="6625989" cy="4678204"/>
          </a:xfrm>
          <a:prstGeom prst="rect">
            <a:avLst/>
          </a:prstGeom>
        </p:spPr>
        <p:txBody>
          <a:bodyPr wrap="square">
            <a:spAutoFit/>
          </a:bodyPr>
          <a:lstStyle/>
          <a:p>
            <a:r>
              <a:rPr lang="en-US" sz="2000" b="1" dirty="0"/>
              <a:t>Applications of Database</a:t>
            </a:r>
          </a:p>
          <a:p>
            <a:pPr>
              <a:buFont typeface="Arial" panose="020B0604020202020204" pitchFamily="34" charset="0"/>
              <a:buChar char="•"/>
            </a:pPr>
            <a:r>
              <a:rPr lang="en-US" sz="2000" dirty="0"/>
              <a:t>Banking </a:t>
            </a:r>
          </a:p>
          <a:p>
            <a:pPr>
              <a:buFont typeface="Arial" panose="020B0604020202020204" pitchFamily="34" charset="0"/>
              <a:buChar char="•"/>
            </a:pPr>
            <a:r>
              <a:rPr lang="en-US" sz="2000" dirty="0"/>
              <a:t>Education </a:t>
            </a:r>
          </a:p>
          <a:p>
            <a:pPr>
              <a:buFont typeface="Arial" panose="020B0604020202020204" pitchFamily="34" charset="0"/>
              <a:buChar char="•"/>
            </a:pPr>
            <a:r>
              <a:rPr lang="en-US" sz="2000" dirty="0"/>
              <a:t>Hospitals </a:t>
            </a:r>
          </a:p>
          <a:p>
            <a:pPr>
              <a:buFont typeface="Arial" panose="020B0604020202020204" pitchFamily="34" charset="0"/>
              <a:buChar char="•"/>
            </a:pPr>
            <a:r>
              <a:rPr lang="en-US" sz="2000" dirty="0"/>
              <a:t>E-commerce </a:t>
            </a:r>
          </a:p>
          <a:p>
            <a:pPr>
              <a:buFont typeface="Arial" panose="020B0604020202020204" pitchFamily="34" charset="0"/>
              <a:buChar char="•"/>
            </a:pPr>
            <a:r>
              <a:rPr lang="en-US" sz="2000" dirty="0"/>
              <a:t>Airlines </a:t>
            </a:r>
          </a:p>
          <a:p>
            <a:pPr>
              <a:buFont typeface="Arial" panose="020B0604020202020204" pitchFamily="34" charset="0"/>
              <a:buChar char="•"/>
            </a:pPr>
            <a:r>
              <a:rPr lang="en-US" sz="2000" dirty="0"/>
              <a:t>Hotels </a:t>
            </a:r>
          </a:p>
          <a:p>
            <a:pPr>
              <a:buFont typeface="Arial" panose="020B0604020202020204" pitchFamily="34" charset="0"/>
              <a:buChar char="•"/>
            </a:pPr>
            <a:r>
              <a:rPr lang="en-US" sz="2000" dirty="0"/>
              <a:t>Social Media </a:t>
            </a:r>
          </a:p>
          <a:p>
            <a:pPr>
              <a:buFont typeface="Arial" panose="020B0604020202020204" pitchFamily="34" charset="0"/>
              <a:buChar char="•"/>
            </a:pPr>
            <a:r>
              <a:rPr lang="en-US" sz="2000" dirty="0"/>
              <a:t>Government </a:t>
            </a:r>
          </a:p>
          <a:p>
            <a:pPr>
              <a:buFont typeface="Arial" panose="020B0604020202020204" pitchFamily="34" charset="0"/>
              <a:buChar char="•"/>
            </a:pPr>
            <a:r>
              <a:rPr lang="en-US" sz="2000" dirty="0"/>
              <a:t>Insurance </a:t>
            </a:r>
          </a:p>
          <a:p>
            <a:pPr>
              <a:buFont typeface="Arial" panose="020B0604020202020204" pitchFamily="34" charset="0"/>
              <a:buChar char="•"/>
            </a:pPr>
            <a:r>
              <a:rPr lang="en-US" sz="2000" dirty="0"/>
              <a:t>Finance </a:t>
            </a:r>
          </a:p>
          <a:p>
            <a:pPr>
              <a:buFont typeface="Arial" panose="020B0604020202020204" pitchFamily="34" charset="0"/>
              <a:buChar char="•"/>
            </a:pPr>
            <a:r>
              <a:rPr lang="en-US" sz="2000" dirty="0"/>
              <a:t>Telecommunications </a:t>
            </a:r>
          </a:p>
          <a:p>
            <a:pPr>
              <a:buFont typeface="Arial" panose="020B0604020202020204" pitchFamily="34" charset="0"/>
              <a:buChar char="•"/>
            </a:pPr>
            <a:r>
              <a:rPr lang="en-US" sz="2000" dirty="0"/>
              <a:t>Manufacturing </a:t>
            </a:r>
          </a:p>
          <a:p>
            <a:pPr>
              <a:buFont typeface="Arial" panose="020B0604020202020204" pitchFamily="34" charset="0"/>
              <a:buChar char="•"/>
            </a:pPr>
            <a:r>
              <a:rPr lang="en-US" sz="2000" dirty="0"/>
              <a:t>Logistics </a:t>
            </a:r>
          </a:p>
          <a:p>
            <a:pPr>
              <a:buFont typeface="Arial" panose="020B0604020202020204" pitchFamily="34" charset="0"/>
              <a:buChar char="•"/>
            </a:pPr>
            <a:r>
              <a:rPr lang="en-US" sz="2000" dirty="0"/>
              <a:t>Human Resources </a:t>
            </a:r>
          </a:p>
        </p:txBody>
      </p:sp>
    </p:spTree>
    <p:extLst>
      <p:ext uri="{BB962C8B-B14F-4D97-AF65-F5344CB8AC3E}">
        <p14:creationId xmlns:p14="http://schemas.microsoft.com/office/powerpoint/2010/main" val="2135446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0545" y="1517807"/>
            <a:ext cx="6954981" cy="3170099"/>
          </a:xfrm>
          <a:prstGeom prst="rect">
            <a:avLst/>
          </a:prstGeom>
        </p:spPr>
        <p:txBody>
          <a:bodyPr wrap="square">
            <a:spAutoFit/>
          </a:bodyPr>
          <a:lstStyle/>
          <a:p>
            <a:r>
              <a:rPr lang="en-IN" sz="3200" b="1" dirty="0"/>
              <a:t>Types of </a:t>
            </a:r>
            <a:r>
              <a:rPr lang="en-IN" sz="3200" b="1" dirty="0" smtClean="0"/>
              <a:t>Databases</a:t>
            </a:r>
          </a:p>
          <a:p>
            <a:pPr marL="342900" indent="-342900">
              <a:buFont typeface="Wingdings" panose="05000000000000000000" pitchFamily="2" charset="2"/>
              <a:buChar char="Ø"/>
            </a:pPr>
            <a:endParaRPr lang="en-IN" sz="2400" b="1" dirty="0"/>
          </a:p>
          <a:p>
            <a:pPr marL="457200" indent="-457200" algn="just">
              <a:lnSpc>
                <a:spcPct val="150000"/>
              </a:lnSpc>
              <a:buFont typeface="+mj-lt"/>
              <a:buAutoNum type="arabicPeriod"/>
            </a:pPr>
            <a:r>
              <a:rPr lang="en-IN" sz="2400" dirty="0" smtClean="0"/>
              <a:t>Relational </a:t>
            </a:r>
            <a:r>
              <a:rPr lang="en-IN" sz="2400" dirty="0"/>
              <a:t>Database (RDBMS)</a:t>
            </a:r>
          </a:p>
          <a:p>
            <a:pPr marL="457200" indent="-457200" algn="just">
              <a:lnSpc>
                <a:spcPct val="150000"/>
              </a:lnSpc>
              <a:buFont typeface="+mj-lt"/>
              <a:buAutoNum type="arabicPeriod"/>
            </a:pPr>
            <a:r>
              <a:rPr lang="en-IN" sz="2400" dirty="0" smtClean="0"/>
              <a:t>NoSQL </a:t>
            </a:r>
            <a:r>
              <a:rPr lang="en-IN" sz="2400" dirty="0" smtClean="0"/>
              <a:t>Databases (NRDBMS)</a:t>
            </a:r>
            <a:endParaRPr lang="en-IN" sz="2400" dirty="0"/>
          </a:p>
          <a:p>
            <a:pPr marL="457200" indent="-457200" algn="just">
              <a:lnSpc>
                <a:spcPct val="150000"/>
              </a:lnSpc>
              <a:buFont typeface="+mj-lt"/>
              <a:buAutoNum type="arabicPeriod"/>
            </a:pPr>
            <a:r>
              <a:rPr lang="en-IN" sz="2400" dirty="0" smtClean="0"/>
              <a:t>Other </a:t>
            </a:r>
            <a:r>
              <a:rPr lang="en-IN" sz="2400" dirty="0"/>
              <a:t>Types</a:t>
            </a:r>
          </a:p>
          <a:p>
            <a:pPr marL="457200" indent="-457200" algn="just">
              <a:lnSpc>
                <a:spcPct val="150000"/>
              </a:lnSpc>
              <a:buFont typeface="+mj-lt"/>
              <a:buAutoNum type="arabicPeriod"/>
            </a:pPr>
            <a:r>
              <a:rPr lang="en-IN" sz="2400" dirty="0" smtClean="0"/>
              <a:t>Cloud </a:t>
            </a:r>
            <a:r>
              <a:rPr lang="en-IN" sz="2400" dirty="0"/>
              <a:t>Databases</a:t>
            </a:r>
          </a:p>
        </p:txBody>
      </p:sp>
    </p:spTree>
    <p:extLst>
      <p:ext uri="{BB962C8B-B14F-4D97-AF65-F5344CB8AC3E}">
        <p14:creationId xmlns:p14="http://schemas.microsoft.com/office/powerpoint/2010/main" val="587618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40165" y="907162"/>
            <a:ext cx="8465127" cy="4862870"/>
          </a:xfrm>
          <a:prstGeom prst="rect">
            <a:avLst/>
          </a:prstGeom>
          <a:noFill/>
        </p:spPr>
        <p:txBody>
          <a:bodyPr wrap="square" rtlCol="0">
            <a:spAutoFit/>
          </a:bodyPr>
          <a:lstStyle/>
          <a:p>
            <a:pPr>
              <a:lnSpc>
                <a:spcPct val="150000"/>
              </a:lnSpc>
            </a:pPr>
            <a:r>
              <a:rPr lang="en-IN" sz="2400" b="1" dirty="0"/>
              <a:t>1. Relational Database (RDBMS)</a:t>
            </a:r>
          </a:p>
          <a:p>
            <a:pPr marL="342900" indent="-342900">
              <a:lnSpc>
                <a:spcPct val="150000"/>
              </a:lnSpc>
              <a:buFont typeface="Arial" panose="020B0604020202020204" pitchFamily="34" charset="0"/>
              <a:buChar char="•"/>
            </a:pPr>
            <a:r>
              <a:rPr lang="en-IN" sz="2000" dirty="0"/>
              <a:t>Data stored in tables (rows &amp; columns) </a:t>
            </a:r>
          </a:p>
          <a:p>
            <a:pPr marL="342900" indent="-342900">
              <a:buFont typeface="Arial" panose="020B0604020202020204" pitchFamily="34" charset="0"/>
              <a:buChar char="•"/>
            </a:pPr>
            <a:r>
              <a:rPr lang="en-IN" sz="2000" dirty="0"/>
              <a:t>Uses SQL </a:t>
            </a:r>
          </a:p>
          <a:p>
            <a:pPr marL="342900" indent="-342900">
              <a:buFont typeface="Arial" panose="020B0604020202020204" pitchFamily="34" charset="0"/>
              <a:buChar char="•"/>
            </a:pPr>
            <a:r>
              <a:rPr lang="en-IN" sz="2000" dirty="0"/>
              <a:t>Examples: </a:t>
            </a:r>
            <a:r>
              <a:rPr lang="en-IN" sz="2000" dirty="0"/>
              <a:t>MySQL, Oracle, PostgreSQL, SQL Server</a:t>
            </a:r>
            <a:endParaRPr lang="en-IN" sz="2000" dirty="0"/>
          </a:p>
          <a:p>
            <a:pPr>
              <a:lnSpc>
                <a:spcPct val="150000"/>
              </a:lnSpc>
            </a:pPr>
            <a:r>
              <a:rPr lang="en-US" sz="2400" b="1" dirty="0"/>
              <a:t>2. NoSQL Databases</a:t>
            </a:r>
          </a:p>
          <a:p>
            <a:pPr marL="342900" indent="-342900">
              <a:lnSpc>
                <a:spcPct val="150000"/>
              </a:lnSpc>
              <a:buFont typeface="Arial" panose="020B0604020202020204" pitchFamily="34" charset="0"/>
              <a:buChar char="•"/>
            </a:pPr>
            <a:r>
              <a:rPr lang="en-US" sz="2000" dirty="0"/>
              <a:t>Used for unstructured data </a:t>
            </a:r>
          </a:p>
          <a:p>
            <a:pPr marL="342900" indent="-342900">
              <a:buFont typeface="Arial" panose="020B0604020202020204" pitchFamily="34" charset="0"/>
              <a:buChar char="•"/>
            </a:pPr>
            <a:r>
              <a:rPr lang="en-US" sz="2000" dirty="0"/>
              <a:t>Flexible schema </a:t>
            </a:r>
          </a:p>
          <a:p>
            <a:pPr marL="342900" indent="-342900">
              <a:buFont typeface="Arial" panose="020B0604020202020204" pitchFamily="34" charset="0"/>
              <a:buChar char="•"/>
            </a:pPr>
            <a:r>
              <a:rPr lang="en-US" sz="2000" b="1" dirty="0"/>
              <a:t>Examples: </a:t>
            </a:r>
            <a:r>
              <a:rPr lang="en-US" sz="2000" dirty="0" smtClean="0"/>
              <a:t>MongoDB ,Cassandra </a:t>
            </a:r>
            <a:r>
              <a:rPr lang="en-US" sz="2000" dirty="0" smtClean="0"/>
              <a:t>,</a:t>
            </a:r>
            <a:r>
              <a:rPr lang="en-US" sz="2000" dirty="0" err="1" smtClean="0"/>
              <a:t>Firebase,Redis</a:t>
            </a:r>
            <a:endParaRPr lang="en-US" sz="2000" dirty="0" smtClean="0"/>
          </a:p>
          <a:p>
            <a:endParaRPr lang="en-US" b="1" dirty="0"/>
          </a:p>
          <a:p>
            <a:pPr marL="342900" indent="-342900">
              <a:buFont typeface="Arial" panose="020B0604020202020204" pitchFamily="34" charset="0"/>
              <a:buChar char="•"/>
            </a:pPr>
            <a:r>
              <a:rPr lang="en-US" sz="2000" b="1" dirty="0"/>
              <a:t>Used for</a:t>
            </a:r>
          </a:p>
          <a:p>
            <a:pPr marL="342900" indent="-342900">
              <a:buFont typeface="Arial" panose="020B0604020202020204" pitchFamily="34" charset="0"/>
              <a:buChar char="•"/>
            </a:pPr>
            <a:r>
              <a:rPr lang="en-US" sz="2000" dirty="0"/>
              <a:t>Social media </a:t>
            </a:r>
          </a:p>
          <a:p>
            <a:pPr marL="342900" indent="-342900">
              <a:buFont typeface="Arial" panose="020B0604020202020204" pitchFamily="34" charset="0"/>
              <a:buChar char="•"/>
            </a:pPr>
            <a:r>
              <a:rPr lang="en-US" sz="2000" dirty="0"/>
              <a:t>Chat applications </a:t>
            </a:r>
          </a:p>
          <a:p>
            <a:pPr marL="342900" indent="-342900">
              <a:buFont typeface="Arial" panose="020B0604020202020204" pitchFamily="34" charset="0"/>
              <a:buChar char="•"/>
            </a:pPr>
            <a:r>
              <a:rPr lang="en-US" sz="2000" dirty="0"/>
              <a:t>Big </a:t>
            </a:r>
            <a:r>
              <a:rPr lang="en-US" sz="2000" dirty="0" smtClean="0"/>
              <a:t>Data</a:t>
            </a:r>
            <a:endParaRPr lang="en-US" sz="2000" dirty="0"/>
          </a:p>
        </p:txBody>
      </p:sp>
    </p:spTree>
    <p:extLst>
      <p:ext uri="{BB962C8B-B14F-4D97-AF65-F5344CB8AC3E}">
        <p14:creationId xmlns:p14="http://schemas.microsoft.com/office/powerpoint/2010/main" val="2302910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9249" y="1073329"/>
            <a:ext cx="6303372" cy="5355312"/>
          </a:xfrm>
          <a:prstGeom prst="rect">
            <a:avLst/>
          </a:prstGeom>
        </p:spPr>
        <p:txBody>
          <a:bodyPr wrap="square">
            <a:spAutoFit/>
          </a:bodyPr>
          <a:lstStyle/>
          <a:p>
            <a:pPr>
              <a:lnSpc>
                <a:spcPct val="150000"/>
              </a:lnSpc>
            </a:pPr>
            <a:r>
              <a:rPr lang="en-US" sz="2400" b="1" dirty="0" smtClean="0"/>
              <a:t>3.Other </a:t>
            </a:r>
            <a:r>
              <a:rPr lang="en-US" sz="2400" b="1" dirty="0"/>
              <a:t>Types</a:t>
            </a:r>
          </a:p>
          <a:p>
            <a:pPr marL="285750" indent="-285750">
              <a:lnSpc>
                <a:spcPct val="150000"/>
              </a:lnSpc>
              <a:buFont typeface="Arial" panose="020B0604020202020204" pitchFamily="34" charset="0"/>
              <a:buChar char="•"/>
            </a:pPr>
            <a:r>
              <a:rPr lang="en-US" dirty="0"/>
              <a:t>Hierarchical DB </a:t>
            </a:r>
          </a:p>
          <a:p>
            <a:pPr marL="285750" indent="-285750">
              <a:lnSpc>
                <a:spcPct val="150000"/>
              </a:lnSpc>
              <a:buFont typeface="Arial" panose="020B0604020202020204" pitchFamily="34" charset="0"/>
              <a:buChar char="•"/>
            </a:pPr>
            <a:r>
              <a:rPr lang="en-US" dirty="0"/>
              <a:t>Network DB </a:t>
            </a:r>
          </a:p>
          <a:p>
            <a:pPr marL="285750" indent="-285750">
              <a:lnSpc>
                <a:spcPct val="150000"/>
              </a:lnSpc>
              <a:buFont typeface="Arial" panose="020B0604020202020204" pitchFamily="34" charset="0"/>
              <a:buChar char="•"/>
            </a:pPr>
            <a:r>
              <a:rPr lang="en-US" dirty="0"/>
              <a:t>Cloud DB </a:t>
            </a:r>
          </a:p>
          <a:p>
            <a:pPr algn="just">
              <a:lnSpc>
                <a:spcPct val="150000"/>
              </a:lnSpc>
            </a:pPr>
            <a:endParaRPr lang="en-US" dirty="0" smtClean="0"/>
          </a:p>
          <a:p>
            <a:pPr>
              <a:lnSpc>
                <a:spcPct val="150000"/>
              </a:lnSpc>
            </a:pPr>
            <a:r>
              <a:rPr lang="en-IN" sz="2400" b="1" dirty="0"/>
              <a:t>4. Cloud Database</a:t>
            </a:r>
          </a:p>
          <a:p>
            <a:pPr>
              <a:lnSpc>
                <a:spcPct val="150000"/>
              </a:lnSpc>
            </a:pPr>
            <a:r>
              <a:rPr lang="en-IN" dirty="0"/>
              <a:t>Database stored on cloud servers.</a:t>
            </a:r>
          </a:p>
          <a:p>
            <a:pPr>
              <a:lnSpc>
                <a:spcPct val="150000"/>
              </a:lnSpc>
            </a:pPr>
            <a:r>
              <a:rPr lang="en-IN" dirty="0"/>
              <a:t>Examples</a:t>
            </a:r>
          </a:p>
          <a:p>
            <a:pPr>
              <a:lnSpc>
                <a:spcPct val="150000"/>
              </a:lnSpc>
            </a:pPr>
            <a:r>
              <a:rPr lang="en-IN" dirty="0"/>
              <a:t>Amazon RDS </a:t>
            </a:r>
          </a:p>
          <a:p>
            <a:pPr>
              <a:lnSpc>
                <a:spcPct val="150000"/>
              </a:lnSpc>
            </a:pPr>
            <a:r>
              <a:rPr lang="en-IN" dirty="0"/>
              <a:t>Google Cloud SQL </a:t>
            </a:r>
          </a:p>
          <a:p>
            <a:pPr>
              <a:lnSpc>
                <a:spcPct val="150000"/>
              </a:lnSpc>
            </a:pPr>
            <a:r>
              <a:rPr lang="en-IN" dirty="0"/>
              <a:t>Azure SQL</a:t>
            </a:r>
          </a:p>
          <a:p>
            <a:pPr algn="just">
              <a:lnSpc>
                <a:spcPct val="150000"/>
              </a:lnSpc>
            </a:pPr>
            <a:endParaRPr lang="en-IN" dirty="0"/>
          </a:p>
        </p:txBody>
      </p:sp>
    </p:spTree>
    <p:extLst>
      <p:ext uri="{BB962C8B-B14F-4D97-AF65-F5344CB8AC3E}">
        <p14:creationId xmlns:p14="http://schemas.microsoft.com/office/powerpoint/2010/main" val="2796994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5018" y="1149927"/>
            <a:ext cx="8340436" cy="4585871"/>
          </a:xfrm>
          <a:prstGeom prst="rect">
            <a:avLst/>
          </a:prstGeom>
          <a:noFill/>
        </p:spPr>
        <p:txBody>
          <a:bodyPr wrap="square" rtlCol="0">
            <a:spAutoFit/>
          </a:bodyPr>
          <a:lstStyle/>
          <a:p>
            <a:r>
              <a:rPr lang="en-US" sz="2800" b="1" dirty="0"/>
              <a:t>Database </a:t>
            </a:r>
            <a:r>
              <a:rPr lang="en-US" sz="2800" b="1" dirty="0" smtClean="0"/>
              <a:t>Languages</a:t>
            </a:r>
          </a:p>
          <a:p>
            <a:endParaRPr lang="en-US" sz="2800" b="1" dirty="0"/>
          </a:p>
          <a:p>
            <a:pPr>
              <a:lnSpc>
                <a:spcPct val="200000"/>
              </a:lnSpc>
            </a:pPr>
            <a:r>
              <a:rPr lang="en-US" sz="2400" dirty="0" smtClean="0"/>
              <a:t> Database </a:t>
            </a:r>
            <a:r>
              <a:rPr lang="en-US" sz="2400" dirty="0"/>
              <a:t>languages are programming/query languages used to:</a:t>
            </a:r>
          </a:p>
          <a:p>
            <a:pPr marL="342900" indent="-342900">
              <a:lnSpc>
                <a:spcPct val="200000"/>
              </a:lnSpc>
              <a:buFont typeface="Arial" panose="020B0604020202020204" pitchFamily="34" charset="0"/>
              <a:buChar char="•"/>
            </a:pPr>
            <a:r>
              <a:rPr lang="en-US" sz="2400" dirty="0"/>
              <a:t>Store data </a:t>
            </a:r>
          </a:p>
          <a:p>
            <a:pPr marL="342900" indent="-342900">
              <a:lnSpc>
                <a:spcPct val="200000"/>
              </a:lnSpc>
              <a:buFont typeface="Arial" panose="020B0604020202020204" pitchFamily="34" charset="0"/>
              <a:buChar char="•"/>
            </a:pPr>
            <a:r>
              <a:rPr lang="en-US" sz="2400" dirty="0"/>
              <a:t>Retrieve data </a:t>
            </a:r>
          </a:p>
          <a:p>
            <a:pPr marL="342900" indent="-342900">
              <a:lnSpc>
                <a:spcPct val="200000"/>
              </a:lnSpc>
              <a:buFont typeface="Arial" panose="020B0604020202020204" pitchFamily="34" charset="0"/>
              <a:buChar char="•"/>
            </a:pPr>
            <a:r>
              <a:rPr lang="en-US" sz="2400" dirty="0"/>
              <a:t>Manage databases</a:t>
            </a:r>
          </a:p>
          <a:p>
            <a:pPr>
              <a:lnSpc>
                <a:spcPct val="200000"/>
              </a:lnSpc>
            </a:pPr>
            <a:endParaRPr lang="en-IN" dirty="0"/>
          </a:p>
        </p:txBody>
      </p:sp>
    </p:spTree>
    <p:extLst>
      <p:ext uri="{BB962C8B-B14F-4D97-AF65-F5344CB8AC3E}">
        <p14:creationId xmlns:p14="http://schemas.microsoft.com/office/powerpoint/2010/main" val="795982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8655" y="771129"/>
            <a:ext cx="8478981" cy="5386090"/>
          </a:xfrm>
          <a:prstGeom prst="rect">
            <a:avLst/>
          </a:prstGeom>
          <a:noFill/>
        </p:spPr>
        <p:txBody>
          <a:bodyPr wrap="square" rtlCol="0">
            <a:spAutoFit/>
          </a:bodyPr>
          <a:lstStyle/>
          <a:p>
            <a:pPr marL="514350" indent="-514350">
              <a:buAutoNum type="arabicPeriod"/>
            </a:pPr>
            <a:r>
              <a:rPr lang="en-IN" sz="2800" b="1" dirty="0" smtClean="0"/>
              <a:t>SQL </a:t>
            </a:r>
            <a:r>
              <a:rPr lang="en-IN" sz="2800" b="1" dirty="0"/>
              <a:t>(Structured Query Language</a:t>
            </a:r>
            <a:r>
              <a:rPr lang="en-IN" sz="2800" b="1" dirty="0" smtClean="0"/>
              <a:t>)</a:t>
            </a:r>
          </a:p>
          <a:p>
            <a:endParaRPr lang="en-IN" sz="2800" b="1" dirty="0"/>
          </a:p>
          <a:p>
            <a:pPr marL="342900" indent="-342900">
              <a:lnSpc>
                <a:spcPct val="150000"/>
              </a:lnSpc>
              <a:buFont typeface="Arial" panose="020B0604020202020204" pitchFamily="34" charset="0"/>
              <a:buChar char="•"/>
            </a:pPr>
            <a:r>
              <a:rPr lang="en-IN" sz="2400" dirty="0"/>
              <a:t>Used for </a:t>
            </a:r>
            <a:r>
              <a:rPr lang="en-IN" sz="2400" b="1" dirty="0"/>
              <a:t>Relational Databases (RDBMS)</a:t>
            </a:r>
            <a:r>
              <a:rPr lang="en-IN" sz="2400" dirty="0"/>
              <a:t> </a:t>
            </a:r>
          </a:p>
          <a:p>
            <a:pPr marL="342900" indent="-342900">
              <a:lnSpc>
                <a:spcPct val="150000"/>
              </a:lnSpc>
              <a:buFont typeface="Arial" panose="020B0604020202020204" pitchFamily="34" charset="0"/>
              <a:buChar char="•"/>
            </a:pPr>
            <a:r>
              <a:rPr lang="en-IN" sz="2400" dirty="0"/>
              <a:t>Most popular database language </a:t>
            </a:r>
          </a:p>
          <a:p>
            <a:pPr marL="342900" indent="-342900">
              <a:lnSpc>
                <a:spcPct val="150000"/>
              </a:lnSpc>
              <a:buFont typeface="Arial" panose="020B0604020202020204" pitchFamily="34" charset="0"/>
              <a:buChar char="•"/>
            </a:pPr>
            <a:r>
              <a:rPr lang="en-IN" sz="2400" b="1" dirty="0"/>
              <a:t>Used in:</a:t>
            </a:r>
          </a:p>
          <a:p>
            <a:pPr marL="342900" indent="-342900">
              <a:lnSpc>
                <a:spcPct val="150000"/>
              </a:lnSpc>
              <a:buFont typeface="Arial" panose="020B0604020202020204" pitchFamily="34" charset="0"/>
              <a:buChar char="•"/>
            </a:pPr>
            <a:r>
              <a:rPr lang="en-IN" sz="2400" dirty="0"/>
              <a:t>MySQL </a:t>
            </a:r>
          </a:p>
          <a:p>
            <a:pPr marL="342900" indent="-342900">
              <a:lnSpc>
                <a:spcPct val="150000"/>
              </a:lnSpc>
              <a:buFont typeface="Arial" panose="020B0604020202020204" pitchFamily="34" charset="0"/>
              <a:buChar char="•"/>
            </a:pPr>
            <a:r>
              <a:rPr lang="en-IN" sz="2400" dirty="0"/>
              <a:t>Oracle Database </a:t>
            </a:r>
          </a:p>
          <a:p>
            <a:pPr marL="342900" indent="-342900">
              <a:lnSpc>
                <a:spcPct val="150000"/>
              </a:lnSpc>
              <a:buFont typeface="Arial" panose="020B0604020202020204" pitchFamily="34" charset="0"/>
              <a:buChar char="•"/>
            </a:pPr>
            <a:r>
              <a:rPr lang="en-IN" sz="2400" dirty="0"/>
              <a:t>PostgreSQL </a:t>
            </a:r>
          </a:p>
          <a:p>
            <a:pPr marL="342900" indent="-342900">
              <a:lnSpc>
                <a:spcPct val="150000"/>
              </a:lnSpc>
              <a:buFont typeface="Arial" panose="020B0604020202020204" pitchFamily="34" charset="0"/>
              <a:buChar char="•"/>
            </a:pPr>
            <a:r>
              <a:rPr lang="en-IN" sz="2400" dirty="0"/>
              <a:t>Microsoft SQL Server </a:t>
            </a:r>
          </a:p>
          <a:p>
            <a:pPr marL="342900" indent="-342900">
              <a:lnSpc>
                <a:spcPct val="150000"/>
              </a:lnSpc>
              <a:buFont typeface="Arial" panose="020B0604020202020204" pitchFamily="34" charset="0"/>
              <a:buChar char="•"/>
            </a:pPr>
            <a:r>
              <a:rPr lang="en-IN" sz="2400" dirty="0" smtClean="0"/>
              <a:t>Best </a:t>
            </a:r>
            <a:r>
              <a:rPr lang="en-IN" sz="2400" dirty="0"/>
              <a:t>for: Structured data (tables)</a:t>
            </a:r>
          </a:p>
        </p:txBody>
      </p:sp>
    </p:spTree>
    <p:extLst>
      <p:ext uri="{BB962C8B-B14F-4D97-AF65-F5344CB8AC3E}">
        <p14:creationId xmlns:p14="http://schemas.microsoft.com/office/powerpoint/2010/main" val="3530006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5018" y="1069354"/>
            <a:ext cx="7869382" cy="4278094"/>
          </a:xfrm>
          <a:prstGeom prst="rect">
            <a:avLst/>
          </a:prstGeom>
        </p:spPr>
        <p:txBody>
          <a:bodyPr wrap="square">
            <a:spAutoFit/>
          </a:bodyPr>
          <a:lstStyle/>
          <a:p>
            <a:r>
              <a:rPr lang="en-US" sz="2800" b="1" dirty="0"/>
              <a:t>2. PL/SQL (Procedural Language SQL</a:t>
            </a:r>
            <a:r>
              <a:rPr lang="en-US" sz="2800" b="1" dirty="0" smtClean="0"/>
              <a:t>)</a:t>
            </a:r>
          </a:p>
          <a:p>
            <a:endParaRPr lang="en-US" sz="2800" b="1" dirty="0"/>
          </a:p>
          <a:p>
            <a:pPr>
              <a:lnSpc>
                <a:spcPct val="150000"/>
              </a:lnSpc>
              <a:buFont typeface="Arial" panose="020B0604020202020204" pitchFamily="34" charset="0"/>
              <a:buChar char="•"/>
            </a:pPr>
            <a:r>
              <a:rPr lang="en-US" sz="2400" dirty="0"/>
              <a:t>Extension of SQL developed by Oracle Corporation </a:t>
            </a:r>
          </a:p>
          <a:p>
            <a:pPr>
              <a:lnSpc>
                <a:spcPct val="150000"/>
              </a:lnSpc>
              <a:buFont typeface="Arial" panose="020B0604020202020204" pitchFamily="34" charset="0"/>
              <a:buChar char="•"/>
            </a:pPr>
            <a:r>
              <a:rPr lang="en-US" sz="2400" dirty="0"/>
              <a:t>Supports programming concepts (loops, conditions</a:t>
            </a:r>
            <a:r>
              <a:rPr lang="en-US" sz="2400" dirty="0" smtClean="0"/>
              <a:t>)</a:t>
            </a:r>
          </a:p>
          <a:p>
            <a:pPr>
              <a:lnSpc>
                <a:spcPct val="150000"/>
              </a:lnSpc>
            </a:pPr>
            <a:r>
              <a:rPr lang="en-IN" sz="2400" dirty="0"/>
              <a:t>Used in:</a:t>
            </a:r>
          </a:p>
          <a:p>
            <a:pPr>
              <a:lnSpc>
                <a:spcPct val="150000"/>
              </a:lnSpc>
            </a:pPr>
            <a:r>
              <a:rPr lang="en-IN" sz="2400" dirty="0"/>
              <a:t>Oracle Database </a:t>
            </a:r>
          </a:p>
          <a:p>
            <a:pPr>
              <a:lnSpc>
                <a:spcPct val="150000"/>
              </a:lnSpc>
            </a:pPr>
            <a:endParaRPr lang="en-US" sz="2400" dirty="0"/>
          </a:p>
        </p:txBody>
      </p:sp>
    </p:spTree>
    <p:extLst>
      <p:ext uri="{BB962C8B-B14F-4D97-AF65-F5344CB8AC3E}">
        <p14:creationId xmlns:p14="http://schemas.microsoft.com/office/powerpoint/2010/main" val="1280550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98764" y="1194044"/>
            <a:ext cx="8368145" cy="4678204"/>
          </a:xfrm>
          <a:prstGeom prst="rect">
            <a:avLst/>
          </a:prstGeom>
        </p:spPr>
        <p:txBody>
          <a:bodyPr wrap="square">
            <a:spAutoFit/>
          </a:bodyPr>
          <a:lstStyle/>
          <a:p>
            <a:r>
              <a:rPr lang="en-US" sz="2800" b="1" dirty="0" smtClean="0"/>
              <a:t>3. </a:t>
            </a:r>
            <a:r>
              <a:rPr lang="en-US" sz="2800" b="1" dirty="0"/>
              <a:t>NoSQL Query Languages</a:t>
            </a:r>
          </a:p>
          <a:p>
            <a:pPr>
              <a:lnSpc>
                <a:spcPct val="150000"/>
              </a:lnSpc>
            </a:pPr>
            <a:r>
              <a:rPr lang="en-US" sz="2400" dirty="0"/>
              <a:t>Used for non-relational databases</a:t>
            </a:r>
          </a:p>
          <a:p>
            <a:pPr>
              <a:lnSpc>
                <a:spcPct val="150000"/>
              </a:lnSpc>
            </a:pPr>
            <a:r>
              <a:rPr lang="en-US" sz="2400" dirty="0"/>
              <a:t>Examples:</a:t>
            </a:r>
          </a:p>
          <a:p>
            <a:pPr marL="342900" indent="-342900">
              <a:lnSpc>
                <a:spcPct val="150000"/>
              </a:lnSpc>
              <a:buFont typeface="Arial" panose="020B0604020202020204" pitchFamily="34" charset="0"/>
              <a:buChar char="•"/>
            </a:pPr>
            <a:r>
              <a:rPr lang="en-US" sz="2400" dirty="0" smtClean="0"/>
              <a:t>MongoDB </a:t>
            </a:r>
            <a:r>
              <a:rPr lang="en-US" sz="2400" dirty="0"/>
              <a:t>Query Language (MQL)</a:t>
            </a:r>
          </a:p>
          <a:p>
            <a:pPr marL="342900" indent="-342900">
              <a:lnSpc>
                <a:spcPct val="150000"/>
              </a:lnSpc>
              <a:buFont typeface="Arial" panose="020B0604020202020204" pitchFamily="34" charset="0"/>
              <a:buChar char="•"/>
            </a:pPr>
            <a:r>
              <a:rPr lang="en-US" sz="2400" dirty="0"/>
              <a:t>Used in </a:t>
            </a:r>
            <a:r>
              <a:rPr lang="en-US" sz="2400" dirty="0" smtClean="0"/>
              <a:t>MongoDB</a:t>
            </a:r>
          </a:p>
          <a:p>
            <a:pPr marL="342900" indent="-342900">
              <a:lnSpc>
                <a:spcPct val="150000"/>
              </a:lnSpc>
              <a:buFont typeface="Arial" panose="020B0604020202020204" pitchFamily="34" charset="0"/>
              <a:buChar char="•"/>
            </a:pPr>
            <a:r>
              <a:rPr lang="en-US" sz="2400" dirty="0" smtClean="0"/>
              <a:t>Cassandra </a:t>
            </a:r>
            <a:r>
              <a:rPr lang="en-US" sz="2400" dirty="0"/>
              <a:t>Query Language (CQL)</a:t>
            </a:r>
          </a:p>
          <a:p>
            <a:pPr marL="342900" indent="-342900">
              <a:lnSpc>
                <a:spcPct val="150000"/>
              </a:lnSpc>
              <a:buFont typeface="Arial" panose="020B0604020202020204" pitchFamily="34" charset="0"/>
              <a:buChar char="•"/>
            </a:pPr>
            <a:r>
              <a:rPr lang="en-US" sz="2400" dirty="0"/>
              <a:t>Used in Apache Cassandra </a:t>
            </a:r>
          </a:p>
          <a:p>
            <a:pPr marL="342900" indent="-342900">
              <a:lnSpc>
                <a:spcPct val="150000"/>
              </a:lnSpc>
              <a:buFont typeface="Arial" panose="020B0604020202020204" pitchFamily="34" charset="0"/>
              <a:buChar char="•"/>
            </a:pPr>
            <a:r>
              <a:rPr lang="en-US" sz="2400" dirty="0" smtClean="0"/>
              <a:t>Looks </a:t>
            </a:r>
            <a:r>
              <a:rPr lang="en-US" sz="2400" dirty="0"/>
              <a:t>similar to SQL but works differently</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1191900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7981" y="1831169"/>
            <a:ext cx="6951001" cy="3016210"/>
          </a:xfrm>
          <a:prstGeom prst="rect">
            <a:avLst/>
          </a:prstGeom>
        </p:spPr>
        <p:txBody>
          <a:bodyPr wrap="square">
            <a:spAutoFit/>
          </a:bodyPr>
          <a:lstStyle/>
          <a:p>
            <a:r>
              <a:rPr lang="en-IN" sz="2800" b="1" dirty="0"/>
              <a:t>Why Use Databases</a:t>
            </a:r>
            <a:r>
              <a:rPr lang="en-IN" sz="2800" b="1" dirty="0" smtClean="0"/>
              <a:t>?</a:t>
            </a:r>
          </a:p>
          <a:p>
            <a:pPr marL="342900" indent="-342900">
              <a:lnSpc>
                <a:spcPct val="150000"/>
              </a:lnSpc>
              <a:buFont typeface="Arial" panose="020B0604020202020204" pitchFamily="34" charset="0"/>
              <a:buChar char="•"/>
            </a:pPr>
            <a:r>
              <a:rPr lang="en-IN" sz="2400" dirty="0"/>
              <a:t>Data storage</a:t>
            </a:r>
          </a:p>
          <a:p>
            <a:pPr marL="342900" indent="-342900">
              <a:lnSpc>
                <a:spcPct val="150000"/>
              </a:lnSpc>
              <a:buFont typeface="Arial" panose="020B0604020202020204" pitchFamily="34" charset="0"/>
              <a:buChar char="•"/>
            </a:pPr>
            <a:r>
              <a:rPr lang="en-IN" sz="2400" dirty="0"/>
              <a:t>Easy retrieval</a:t>
            </a:r>
          </a:p>
          <a:p>
            <a:pPr marL="342900" indent="-342900">
              <a:lnSpc>
                <a:spcPct val="150000"/>
              </a:lnSpc>
              <a:buFont typeface="Arial" panose="020B0604020202020204" pitchFamily="34" charset="0"/>
              <a:buChar char="•"/>
            </a:pPr>
            <a:r>
              <a:rPr lang="en-IN" sz="2400" dirty="0"/>
              <a:t>Security</a:t>
            </a:r>
          </a:p>
          <a:p>
            <a:pPr marL="342900" indent="-342900">
              <a:lnSpc>
                <a:spcPct val="150000"/>
              </a:lnSpc>
              <a:buFont typeface="Arial" panose="020B0604020202020204" pitchFamily="34" charset="0"/>
              <a:buChar char="•"/>
            </a:pPr>
            <a:r>
              <a:rPr lang="en-IN" sz="2400" dirty="0"/>
              <a:t>Data consistency</a:t>
            </a:r>
          </a:p>
          <a:p>
            <a:endParaRPr lang="en-IN" dirty="0"/>
          </a:p>
        </p:txBody>
      </p:sp>
    </p:spTree>
    <p:extLst>
      <p:ext uri="{BB962C8B-B14F-4D97-AF65-F5344CB8AC3E}">
        <p14:creationId xmlns:p14="http://schemas.microsoft.com/office/powerpoint/2010/main" val="2745604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1" y="1969899"/>
            <a:ext cx="8575963" cy="2431435"/>
          </a:xfrm>
          <a:prstGeom prst="rect">
            <a:avLst/>
          </a:prstGeom>
        </p:spPr>
        <p:txBody>
          <a:bodyPr wrap="square">
            <a:spAutoFit/>
          </a:bodyPr>
          <a:lstStyle/>
          <a:p>
            <a:r>
              <a:rPr lang="en-US" sz="4000" b="1" dirty="0" smtClean="0"/>
              <a:t>   SQL</a:t>
            </a:r>
          </a:p>
          <a:p>
            <a:pPr marL="457200" indent="-457200" algn="just">
              <a:buFont typeface="Arial" panose="020B0604020202020204" pitchFamily="34" charset="0"/>
              <a:buChar char="•"/>
            </a:pPr>
            <a:r>
              <a:rPr lang="en-US" sz="2800" dirty="0" smtClean="0"/>
              <a:t>SQL </a:t>
            </a:r>
            <a:r>
              <a:rPr lang="en-US" sz="2800" dirty="0"/>
              <a:t>(Structured Query Language) is a standard database language used to interact with relational databases by performing operations such as data storage, retrieval, updating, and deletion.</a:t>
            </a:r>
          </a:p>
        </p:txBody>
      </p:sp>
    </p:spTree>
    <p:extLst>
      <p:ext uri="{BB962C8B-B14F-4D97-AF65-F5344CB8AC3E}">
        <p14:creationId xmlns:p14="http://schemas.microsoft.com/office/powerpoint/2010/main" val="3478467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3671" y="1097157"/>
            <a:ext cx="6733309" cy="4731873"/>
          </a:xfrm>
          <a:prstGeom prst="rect">
            <a:avLst/>
          </a:prstGeom>
        </p:spPr>
        <p:txBody>
          <a:bodyPr wrap="square">
            <a:spAutoFit/>
          </a:bodyPr>
          <a:lstStyle/>
          <a:p>
            <a:pPr>
              <a:lnSpc>
                <a:spcPct val="150000"/>
              </a:lnSpc>
            </a:pPr>
            <a:r>
              <a:rPr lang="en-US" sz="3200" b="1" dirty="0"/>
              <a:t>Why Use SQL?</a:t>
            </a:r>
          </a:p>
          <a:p>
            <a:pPr>
              <a:lnSpc>
                <a:spcPct val="150000"/>
              </a:lnSpc>
            </a:pPr>
            <a:r>
              <a:rPr lang="en-US" sz="3200" b="1" dirty="0" smtClean="0"/>
              <a:t>Reasons</a:t>
            </a:r>
            <a:r>
              <a:rPr lang="en-US" sz="3200" b="1" dirty="0"/>
              <a:t>:</a:t>
            </a:r>
          </a:p>
          <a:p>
            <a:pPr>
              <a:lnSpc>
                <a:spcPct val="150000"/>
              </a:lnSpc>
              <a:buFont typeface="Arial" panose="020B0604020202020204" pitchFamily="34" charset="0"/>
              <a:buChar char="•"/>
            </a:pPr>
            <a:r>
              <a:rPr lang="en-US" sz="2800" dirty="0"/>
              <a:t>Standard language for databases </a:t>
            </a:r>
          </a:p>
          <a:p>
            <a:pPr>
              <a:lnSpc>
                <a:spcPct val="150000"/>
              </a:lnSpc>
              <a:buFont typeface="Arial" panose="020B0604020202020204" pitchFamily="34" charset="0"/>
              <a:buChar char="•"/>
            </a:pPr>
            <a:r>
              <a:rPr lang="en-US" sz="2800" dirty="0"/>
              <a:t>Easy to learn </a:t>
            </a:r>
          </a:p>
          <a:p>
            <a:pPr>
              <a:lnSpc>
                <a:spcPct val="150000"/>
              </a:lnSpc>
              <a:buFont typeface="Arial" panose="020B0604020202020204" pitchFamily="34" charset="0"/>
              <a:buChar char="•"/>
            </a:pPr>
            <a:r>
              <a:rPr lang="en-US" sz="2800" dirty="0"/>
              <a:t>High performance </a:t>
            </a:r>
          </a:p>
          <a:p>
            <a:pPr>
              <a:lnSpc>
                <a:spcPct val="150000"/>
              </a:lnSpc>
              <a:buFont typeface="Arial" panose="020B0604020202020204" pitchFamily="34" charset="0"/>
              <a:buChar char="•"/>
            </a:pPr>
            <a:r>
              <a:rPr lang="en-US" sz="2800" dirty="0"/>
              <a:t>Handles large data efficiently </a:t>
            </a:r>
          </a:p>
          <a:p>
            <a:pPr>
              <a:lnSpc>
                <a:spcPct val="150000"/>
              </a:lnSpc>
              <a:buFont typeface="Arial" panose="020B0604020202020204" pitchFamily="34" charset="0"/>
              <a:buChar char="•"/>
            </a:pPr>
            <a:r>
              <a:rPr lang="en-US" sz="2800" dirty="0"/>
              <a:t>Works with almost all industries</a:t>
            </a:r>
          </a:p>
        </p:txBody>
      </p:sp>
    </p:spTree>
    <p:extLst>
      <p:ext uri="{BB962C8B-B14F-4D97-AF65-F5344CB8AC3E}">
        <p14:creationId xmlns:p14="http://schemas.microsoft.com/office/powerpoint/2010/main" val="3096774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83672" y="1415764"/>
            <a:ext cx="6359236" cy="3877985"/>
          </a:xfrm>
          <a:prstGeom prst="rect">
            <a:avLst/>
          </a:prstGeom>
        </p:spPr>
        <p:txBody>
          <a:bodyPr wrap="square">
            <a:spAutoFit/>
          </a:bodyPr>
          <a:lstStyle/>
          <a:p>
            <a:r>
              <a:rPr lang="en-IN" sz="3600" b="1" dirty="0"/>
              <a:t>Advantages of </a:t>
            </a:r>
            <a:r>
              <a:rPr lang="en-IN" sz="3600" b="1" dirty="0" smtClean="0"/>
              <a:t>SQL</a:t>
            </a:r>
          </a:p>
          <a:p>
            <a:pPr>
              <a:lnSpc>
                <a:spcPct val="150000"/>
              </a:lnSpc>
            </a:pPr>
            <a:r>
              <a:rPr lang="en-IN" sz="2800" dirty="0" smtClean="0"/>
              <a:t>1) Easy </a:t>
            </a:r>
            <a:r>
              <a:rPr lang="en-IN" sz="2800" dirty="0"/>
              <a:t>to understand</a:t>
            </a:r>
            <a:br>
              <a:rPr lang="en-IN" sz="2800" dirty="0"/>
            </a:br>
            <a:r>
              <a:rPr lang="en-IN" sz="2800" dirty="0" smtClean="0"/>
              <a:t>2) Fast </a:t>
            </a:r>
            <a:r>
              <a:rPr lang="en-IN" sz="2800" dirty="0"/>
              <a:t>queries</a:t>
            </a:r>
            <a:br>
              <a:rPr lang="en-IN" sz="2800" dirty="0"/>
            </a:br>
            <a:r>
              <a:rPr lang="en-IN" sz="2800" dirty="0" smtClean="0"/>
              <a:t>3) Reliable </a:t>
            </a:r>
            <a:r>
              <a:rPr lang="en-IN" sz="2800" dirty="0"/>
              <a:t>&amp; secure</a:t>
            </a:r>
            <a:br>
              <a:rPr lang="en-IN" sz="2800" dirty="0"/>
            </a:br>
            <a:r>
              <a:rPr lang="en-IN" sz="2800" dirty="0" smtClean="0"/>
              <a:t>4) ACID </a:t>
            </a:r>
            <a:r>
              <a:rPr lang="en-IN" sz="2800" dirty="0"/>
              <a:t>properties (data consistency)</a:t>
            </a:r>
            <a:br>
              <a:rPr lang="en-IN" sz="2800" dirty="0"/>
            </a:br>
            <a:r>
              <a:rPr lang="en-IN" sz="2800" dirty="0" smtClean="0"/>
              <a:t>5) Widely </a:t>
            </a:r>
            <a:r>
              <a:rPr lang="en-IN" sz="2800" dirty="0"/>
              <a:t>used</a:t>
            </a:r>
          </a:p>
        </p:txBody>
      </p:sp>
    </p:spTree>
    <p:extLst>
      <p:ext uri="{BB962C8B-B14F-4D97-AF65-F5344CB8AC3E}">
        <p14:creationId xmlns:p14="http://schemas.microsoft.com/office/powerpoint/2010/main" val="3889417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5962" y="1817499"/>
            <a:ext cx="6719455" cy="3231654"/>
          </a:xfrm>
          <a:prstGeom prst="rect">
            <a:avLst/>
          </a:prstGeom>
        </p:spPr>
        <p:txBody>
          <a:bodyPr wrap="square">
            <a:spAutoFit/>
          </a:bodyPr>
          <a:lstStyle/>
          <a:p>
            <a:r>
              <a:rPr lang="en-US" sz="3600" b="1" dirty="0"/>
              <a:t>Features of MySQL</a:t>
            </a:r>
          </a:p>
          <a:p>
            <a:pPr>
              <a:lnSpc>
                <a:spcPct val="150000"/>
              </a:lnSpc>
              <a:buFont typeface="Arial" panose="020B0604020202020204" pitchFamily="34" charset="0"/>
              <a:buChar char="•"/>
            </a:pPr>
            <a:r>
              <a:rPr lang="en-US" sz="2800" dirty="0"/>
              <a:t>Free &amp; open-source </a:t>
            </a:r>
          </a:p>
          <a:p>
            <a:pPr>
              <a:lnSpc>
                <a:spcPct val="150000"/>
              </a:lnSpc>
              <a:buFont typeface="Arial" panose="020B0604020202020204" pitchFamily="34" charset="0"/>
              <a:buChar char="•"/>
            </a:pPr>
            <a:r>
              <a:rPr lang="en-US" sz="2800" dirty="0"/>
              <a:t>Fast performance </a:t>
            </a:r>
          </a:p>
          <a:p>
            <a:pPr>
              <a:lnSpc>
                <a:spcPct val="150000"/>
              </a:lnSpc>
              <a:buFont typeface="Arial" panose="020B0604020202020204" pitchFamily="34" charset="0"/>
              <a:buChar char="•"/>
            </a:pPr>
            <a:r>
              <a:rPr lang="en-US" sz="2800" dirty="0"/>
              <a:t>Supports large databases </a:t>
            </a:r>
          </a:p>
          <a:p>
            <a:pPr>
              <a:lnSpc>
                <a:spcPct val="150000"/>
              </a:lnSpc>
              <a:buFont typeface="Arial" panose="020B0604020202020204" pitchFamily="34" charset="0"/>
              <a:buChar char="•"/>
            </a:pPr>
            <a:r>
              <a:rPr lang="en-US" sz="2800" dirty="0"/>
              <a:t>Works with languages like Python, Java, PHP</a:t>
            </a:r>
          </a:p>
        </p:txBody>
      </p:sp>
    </p:spTree>
    <p:extLst>
      <p:ext uri="{BB962C8B-B14F-4D97-AF65-F5344CB8AC3E}">
        <p14:creationId xmlns:p14="http://schemas.microsoft.com/office/powerpoint/2010/main" val="20428159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5345" y="1443520"/>
            <a:ext cx="6359237" cy="4801314"/>
          </a:xfrm>
          <a:prstGeom prst="rect">
            <a:avLst/>
          </a:prstGeom>
        </p:spPr>
        <p:txBody>
          <a:bodyPr wrap="square">
            <a:spAutoFit/>
          </a:bodyPr>
          <a:lstStyle/>
          <a:p>
            <a:r>
              <a:rPr lang="en-IN" sz="3600" b="1" dirty="0"/>
              <a:t>Job Opportunities</a:t>
            </a:r>
          </a:p>
          <a:p>
            <a:endParaRPr lang="en-IN" b="1" dirty="0"/>
          </a:p>
          <a:p>
            <a:pPr>
              <a:lnSpc>
                <a:spcPct val="150000"/>
              </a:lnSpc>
              <a:buFont typeface="Arial" panose="020B0604020202020204" pitchFamily="34" charset="0"/>
              <a:buChar char="•"/>
            </a:pPr>
            <a:r>
              <a:rPr lang="en-IN" sz="2800" dirty="0"/>
              <a:t>SQL Developer </a:t>
            </a:r>
          </a:p>
          <a:p>
            <a:pPr>
              <a:lnSpc>
                <a:spcPct val="150000"/>
              </a:lnSpc>
              <a:buFont typeface="Arial" panose="020B0604020202020204" pitchFamily="34" charset="0"/>
              <a:buChar char="•"/>
            </a:pPr>
            <a:r>
              <a:rPr lang="en-IN" sz="2800" dirty="0"/>
              <a:t>Data Analyst </a:t>
            </a:r>
          </a:p>
          <a:p>
            <a:pPr>
              <a:lnSpc>
                <a:spcPct val="150000"/>
              </a:lnSpc>
              <a:buFont typeface="Arial" panose="020B0604020202020204" pitchFamily="34" charset="0"/>
              <a:buChar char="•"/>
            </a:pPr>
            <a:r>
              <a:rPr lang="en-IN" sz="2800" dirty="0"/>
              <a:t>Database Administrator (DBA) </a:t>
            </a:r>
          </a:p>
          <a:p>
            <a:pPr>
              <a:lnSpc>
                <a:spcPct val="150000"/>
              </a:lnSpc>
              <a:buFont typeface="Arial" panose="020B0604020202020204" pitchFamily="34" charset="0"/>
              <a:buChar char="•"/>
            </a:pPr>
            <a:r>
              <a:rPr lang="en-IN" sz="2800" dirty="0"/>
              <a:t>Backend Developer </a:t>
            </a:r>
          </a:p>
          <a:p>
            <a:pPr>
              <a:lnSpc>
                <a:spcPct val="150000"/>
              </a:lnSpc>
              <a:buFont typeface="Arial" panose="020B0604020202020204" pitchFamily="34" charset="0"/>
              <a:buChar char="•"/>
            </a:pPr>
            <a:r>
              <a:rPr lang="en-IN" sz="2800" dirty="0"/>
              <a:t>Data </a:t>
            </a:r>
            <a:r>
              <a:rPr lang="en-IN" sz="2800" dirty="0" smtClean="0"/>
              <a:t>Scientist</a:t>
            </a:r>
          </a:p>
          <a:p>
            <a:pPr>
              <a:lnSpc>
                <a:spcPct val="150000"/>
              </a:lnSpc>
              <a:buFont typeface="Arial" panose="020B0604020202020204" pitchFamily="34" charset="0"/>
              <a:buChar char="•"/>
            </a:pPr>
            <a:r>
              <a:rPr lang="en-US" sz="2800" dirty="0" smtClean="0"/>
              <a:t>Database Engineer</a:t>
            </a:r>
            <a:endParaRPr lang="en-IN" sz="2800" dirty="0"/>
          </a:p>
        </p:txBody>
      </p:sp>
    </p:spTree>
    <p:extLst>
      <p:ext uri="{BB962C8B-B14F-4D97-AF65-F5344CB8AC3E}">
        <p14:creationId xmlns:p14="http://schemas.microsoft.com/office/powerpoint/2010/main" val="2291018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0229" y="560135"/>
            <a:ext cx="6371771" cy="5595378"/>
          </a:xfrm>
          <a:prstGeom prst="rect">
            <a:avLst/>
          </a:prstGeom>
        </p:spPr>
        <p:txBody>
          <a:bodyPr wrap="square">
            <a:spAutoFit/>
          </a:bodyPr>
          <a:lstStyle/>
          <a:p>
            <a:pPr>
              <a:lnSpc>
                <a:spcPct val="115000"/>
              </a:lnSpc>
              <a:spcBef>
                <a:spcPts val="2400"/>
              </a:spcBef>
              <a:spcAft>
                <a:spcPts val="0"/>
              </a:spcAft>
            </a:pPr>
            <a:r>
              <a:rPr lang="en-US" sz="24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rPr>
              <a:t>SQL Roadmap</a:t>
            </a:r>
            <a:endParaRPr lang="en-IN" sz="2400" b="1" kern="0" dirty="0">
              <a:solidFill>
                <a:srgbClr val="365F91"/>
              </a:solidFill>
              <a:latin typeface="Calibri" panose="020F0502020204030204" pitchFamily="34" charset="0"/>
              <a:ea typeface="MS Gothic" panose="020B0609070205080204" pitchFamily="49" charset="-128"/>
              <a:cs typeface="Times New Roman" panose="02020603050405020304" pitchFamily="18" charset="0"/>
            </a:endParaRPr>
          </a:p>
          <a:p>
            <a:r>
              <a:rPr lang="en-US" dirty="0">
                <a:latin typeface="Cambria" panose="02040503050406030204" pitchFamily="18" charset="0"/>
                <a:ea typeface="MS Mincho" panose="02020609040205080304" pitchFamily="49" charset="-128"/>
                <a:cs typeface="Times New Roman" panose="02020603050405020304" pitchFamily="18" charset="0"/>
              </a:rPr>
              <a:t/>
            </a:r>
            <a:br>
              <a:rPr lang="en-US"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SQL ROADMAP</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1. Basic</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What Is SQL</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Databases &amp; Tables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Data Types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CRUD (Create, Read, Update, Delete)</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2. Queries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SELECT Statements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WHERE Clauses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ORDER BY, GROUP BY</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LIMIT, </a:t>
            </a:r>
            <a:r>
              <a:rPr lang="en-US" sz="2400" dirty="0" smtClean="0">
                <a:latin typeface="Cambria" panose="02040503050406030204" pitchFamily="18" charset="0"/>
                <a:ea typeface="MS Mincho" panose="02020609040205080304" pitchFamily="49" charset="-128"/>
                <a:cs typeface="Times New Roman" panose="02020603050405020304" pitchFamily="18" charset="0"/>
              </a:rPr>
              <a:t>DISTINCT</a:t>
            </a:r>
            <a:endParaRPr lang="en-IN" sz="2400" dirty="0"/>
          </a:p>
        </p:txBody>
      </p:sp>
    </p:spTree>
    <p:extLst>
      <p:ext uri="{BB962C8B-B14F-4D97-AF65-F5344CB8AC3E}">
        <p14:creationId xmlns:p14="http://schemas.microsoft.com/office/powerpoint/2010/main" val="3104284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1829" y="571757"/>
            <a:ext cx="7039429" cy="5909310"/>
          </a:xfrm>
          <a:prstGeom prst="rect">
            <a:avLst/>
          </a:prstGeom>
        </p:spPr>
        <p:txBody>
          <a:bodyPr wrap="square">
            <a:spAutoFit/>
          </a:bodyPr>
          <a:lstStyle/>
          <a:p>
            <a:r>
              <a:rPr lang="en-US" sz="2400" dirty="0">
                <a:latin typeface="Cambria" panose="02040503050406030204" pitchFamily="18" charset="0"/>
                <a:ea typeface="MS Mincho" panose="02020609040205080304" pitchFamily="49" charset="-128"/>
                <a:cs typeface="Times New Roman" panose="02020603050405020304" pitchFamily="18" charset="0"/>
              </a:rPr>
              <a:t>3. Functions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Aggregate: COUNT(), SUM(), AVG()</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String: UPPER(), LOWER(), CONCAT()</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Date: NOW(), DATE(), DATEDIFF()</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4. Joins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INNER JOIN</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LEFT JOIN</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RIGHT JOIN</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FULL JOIN</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SELF JOIN</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5. Subqueries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In SELECT, FROM, WHERE</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Correlated Subqueries</a:t>
            </a:r>
            <a:r>
              <a:rPr lang="en-US" dirty="0">
                <a:latin typeface="Cambria" panose="02040503050406030204" pitchFamily="18" charset="0"/>
                <a:ea typeface="MS Mincho" panose="02020609040205080304" pitchFamily="49" charset="-128"/>
                <a:cs typeface="Times New Roman" panose="02020603050405020304" pitchFamily="18" charset="0"/>
              </a:rPr>
              <a:t/>
            </a:r>
            <a:br>
              <a:rPr lang="en-US" dirty="0">
                <a:latin typeface="Cambria" panose="02040503050406030204" pitchFamily="18" charset="0"/>
                <a:ea typeface="MS Mincho" panose="02020609040205080304" pitchFamily="49" charset="-128"/>
                <a:cs typeface="Times New Roman" panose="02020603050405020304" pitchFamily="18" charset="0"/>
              </a:rPr>
            </a:br>
            <a:endParaRPr lang="en-IN" dirty="0"/>
          </a:p>
        </p:txBody>
      </p:sp>
    </p:spTree>
    <p:extLst>
      <p:ext uri="{BB962C8B-B14F-4D97-AF65-F5344CB8AC3E}">
        <p14:creationId xmlns:p14="http://schemas.microsoft.com/office/powerpoint/2010/main" val="146449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3599" y="500413"/>
            <a:ext cx="7598230" cy="5262979"/>
          </a:xfrm>
          <a:prstGeom prst="rect">
            <a:avLst/>
          </a:prstGeom>
        </p:spPr>
        <p:txBody>
          <a:bodyPr wrap="square">
            <a:spAutoFit/>
          </a:bodyPr>
          <a:lstStyle/>
          <a:p>
            <a:r>
              <a:rPr lang="en-US" sz="2400" dirty="0">
                <a:latin typeface="Cambria" panose="02040503050406030204" pitchFamily="18" charset="0"/>
                <a:ea typeface="MS Mincho" panose="02020609040205080304" pitchFamily="49" charset="-128"/>
                <a:cs typeface="Times New Roman" panose="02020603050405020304" pitchFamily="18" charset="0"/>
              </a:rPr>
              <a:t>6. Constraints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PRIMARY KEY</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FOREIGN KEY</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UNIQUE</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NOT NULL</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CHECK</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7. Indexes &amp; Views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Indexing For Speed</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Creating &amp; Using Views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8. Normalization</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- 1NF, 2NF, 3NF</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Avoiding Redundancy</a:t>
            </a:r>
            <a:endParaRPr lang="en-IN" sz="2400" dirty="0"/>
          </a:p>
        </p:txBody>
      </p:sp>
    </p:spTree>
    <p:extLst>
      <p:ext uri="{BB962C8B-B14F-4D97-AF65-F5344CB8AC3E}">
        <p14:creationId xmlns:p14="http://schemas.microsoft.com/office/powerpoint/2010/main" val="858827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6685" y="430920"/>
            <a:ext cx="6313715" cy="6427080"/>
          </a:xfrm>
          <a:prstGeom prst="rect">
            <a:avLst/>
          </a:prstGeom>
        </p:spPr>
        <p:txBody>
          <a:bodyPr wrap="square">
            <a:spAutoFit/>
          </a:bodyPr>
          <a:lstStyle/>
          <a:p>
            <a:pPr>
              <a:lnSpc>
                <a:spcPct val="115000"/>
              </a:lnSpc>
              <a:spcAft>
                <a:spcPts val="1000"/>
              </a:spcAft>
            </a:pPr>
            <a:r>
              <a:rPr lang="en-US" sz="2400" dirty="0">
                <a:latin typeface="Cambria" panose="02040503050406030204" pitchFamily="18" charset="0"/>
                <a:ea typeface="MS Mincho" panose="02020609040205080304" pitchFamily="49" charset="-128"/>
                <a:cs typeface="Times New Roman" panose="02020603050405020304" pitchFamily="18" charset="0"/>
              </a:rPr>
              <a:t>9. Transactions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BEGIN, COMMIT, ROLLBACK</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ACID Properties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10. Advanced</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Stored Procedures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Triggers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Window Functions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CTEs (WITH Clause)</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11. Practice</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Projects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Resources</a:t>
            </a:r>
            <a:br>
              <a:rPr lang="en-US" sz="2400" dirty="0">
                <a:latin typeface="Cambria" panose="02040503050406030204" pitchFamily="18" charset="0"/>
                <a:ea typeface="MS Mincho" panose="02020609040205080304" pitchFamily="49" charset="-128"/>
                <a:cs typeface="Times New Roman" panose="02020603050405020304" pitchFamily="18" charset="0"/>
              </a:rPr>
            </a:br>
            <a:r>
              <a:rPr lang="en-US" sz="2400" dirty="0">
                <a:latin typeface="Cambria" panose="02040503050406030204" pitchFamily="18" charset="0"/>
                <a:ea typeface="MS Mincho" panose="02020609040205080304" pitchFamily="49" charset="-128"/>
                <a:cs typeface="Times New Roman" panose="02020603050405020304" pitchFamily="18" charset="0"/>
              </a:rPr>
              <a:t>- SQL Exercises</a:t>
            </a:r>
            <a:br>
              <a:rPr lang="en-US" sz="2400" dirty="0">
                <a:latin typeface="Cambria" panose="02040503050406030204" pitchFamily="18" charset="0"/>
                <a:ea typeface="MS Mincho" panose="02020609040205080304" pitchFamily="49" charset="-128"/>
                <a:cs typeface="Times New Roman" panose="02020603050405020304" pitchFamily="18" charset="0"/>
              </a:rPr>
            </a:br>
            <a:endParaRPr lang="en-IN" sz="2400" dirty="0">
              <a:latin typeface="Cambria" panose="02040503050406030204" pitchFamily="18"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890161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5126" y="1136258"/>
            <a:ext cx="7703127" cy="5078313"/>
          </a:xfrm>
          <a:prstGeom prst="rect">
            <a:avLst/>
          </a:prstGeom>
        </p:spPr>
        <p:txBody>
          <a:bodyPr wrap="square">
            <a:spAutoFit/>
          </a:bodyPr>
          <a:lstStyle/>
          <a:p>
            <a:r>
              <a:rPr lang="en-US" sz="3600" b="1" dirty="0"/>
              <a:t>Data</a:t>
            </a:r>
          </a:p>
          <a:p>
            <a:pPr marL="457200" indent="-457200" algn="just">
              <a:lnSpc>
                <a:spcPct val="150000"/>
              </a:lnSpc>
              <a:buFont typeface="Arial" panose="020B0604020202020204" pitchFamily="34" charset="0"/>
              <a:buChar char="•"/>
            </a:pPr>
            <a:r>
              <a:rPr lang="en-US" sz="2800" dirty="0" smtClean="0"/>
              <a:t>Data </a:t>
            </a:r>
            <a:r>
              <a:rPr lang="en-US" sz="2800" dirty="0"/>
              <a:t>is raw facts or figures, or any information that is stored in or used by a computer.</a:t>
            </a:r>
          </a:p>
          <a:p>
            <a:pPr marL="457200" indent="-457200" algn="just">
              <a:lnSpc>
                <a:spcPct val="150000"/>
              </a:lnSpc>
              <a:buFont typeface="Arial" panose="020B0604020202020204" pitchFamily="34" charset="0"/>
              <a:buChar char="•"/>
            </a:pPr>
            <a:r>
              <a:rPr lang="en-US" sz="2800" dirty="0"/>
              <a:t>Data by itself has no meaning until it is processed or given context.</a:t>
            </a:r>
          </a:p>
          <a:p>
            <a:pPr marL="457200" indent="-457200" algn="just">
              <a:lnSpc>
                <a:spcPct val="150000"/>
              </a:lnSpc>
              <a:buFont typeface="Arial" panose="020B0604020202020204" pitchFamily="34" charset="0"/>
              <a:buChar char="•"/>
            </a:pPr>
            <a:r>
              <a:rPr lang="en-US" sz="2800" dirty="0"/>
              <a:t>It can be numbers, text, dates, images, etc</a:t>
            </a:r>
            <a:r>
              <a:rPr lang="en-US" sz="2800" dirty="0" smtClean="0"/>
              <a:t>.</a:t>
            </a:r>
          </a:p>
          <a:p>
            <a:pPr marL="457200" indent="-457200" algn="just">
              <a:lnSpc>
                <a:spcPct val="150000"/>
              </a:lnSpc>
              <a:buFont typeface="Arial" panose="020B0604020202020204" pitchFamily="34" charset="0"/>
              <a:buChar char="•"/>
            </a:pPr>
            <a:r>
              <a:rPr lang="en-US" sz="2800" dirty="0"/>
              <a:t>These are just raw pieces of information.</a:t>
            </a:r>
          </a:p>
          <a:p>
            <a:pPr algn="just"/>
            <a:endParaRPr lang="en-US" dirty="0" smtClean="0"/>
          </a:p>
          <a:p>
            <a:pPr algn="just">
              <a:buFont typeface="Arial" panose="020B0604020202020204" pitchFamily="34" charset="0"/>
              <a:buChar char="•"/>
            </a:pPr>
            <a:endParaRPr lang="en-US" dirty="0"/>
          </a:p>
        </p:txBody>
      </p:sp>
    </p:spTree>
    <p:extLst>
      <p:ext uri="{BB962C8B-B14F-4D97-AF65-F5344CB8AC3E}">
        <p14:creationId xmlns:p14="http://schemas.microsoft.com/office/powerpoint/2010/main" val="3544579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2728" y="1443657"/>
            <a:ext cx="8035636" cy="4093428"/>
          </a:xfrm>
          <a:prstGeom prst="rect">
            <a:avLst/>
          </a:prstGeom>
        </p:spPr>
        <p:txBody>
          <a:bodyPr wrap="square">
            <a:spAutoFit/>
          </a:bodyPr>
          <a:lstStyle/>
          <a:p>
            <a:pPr algn="just"/>
            <a:r>
              <a:rPr lang="en-US" sz="3600" b="1" dirty="0"/>
              <a:t>Database</a:t>
            </a:r>
          </a:p>
          <a:p>
            <a:pPr marL="285750" indent="-285750" algn="just">
              <a:buFont typeface="Arial" panose="020B0604020202020204" pitchFamily="34" charset="0"/>
              <a:buChar char="•"/>
            </a:pPr>
            <a:r>
              <a:rPr lang="en-US" sz="2800" dirty="0" smtClean="0"/>
              <a:t>A </a:t>
            </a:r>
            <a:r>
              <a:rPr lang="en-US" sz="2800" dirty="0"/>
              <a:t>database is an organized collection of data (or information) that is stored in such a way that it can be easily accessed, managed, and updated.</a:t>
            </a:r>
          </a:p>
          <a:p>
            <a:pPr marL="285750" indent="-285750" algn="just">
              <a:buFont typeface="Arial" panose="020B0604020202020204" pitchFamily="34" charset="0"/>
              <a:buChar char="•"/>
            </a:pPr>
            <a:r>
              <a:rPr lang="en-US" sz="2800" dirty="0"/>
              <a:t>A database is like a well-organized digital filing cabinet.</a:t>
            </a:r>
          </a:p>
          <a:p>
            <a:pPr marL="285750" indent="-285750" algn="just">
              <a:buFont typeface="Arial" panose="020B0604020202020204" pitchFamily="34" charset="0"/>
              <a:buChar char="•"/>
            </a:pPr>
            <a:r>
              <a:rPr lang="en-US" sz="2800" dirty="0"/>
              <a:t>It keeps data in a structured format so that we can find, add, change, or delete information quickly and efficiently.</a:t>
            </a:r>
          </a:p>
        </p:txBody>
      </p:sp>
    </p:spTree>
    <p:extLst>
      <p:ext uri="{BB962C8B-B14F-4D97-AF65-F5344CB8AC3E}">
        <p14:creationId xmlns:p14="http://schemas.microsoft.com/office/powerpoint/2010/main" val="1422205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265049669"/>
              </p:ext>
            </p:extLst>
          </p:nvPr>
        </p:nvGraphicFramePr>
        <p:xfrm>
          <a:off x="713509" y="1363288"/>
          <a:ext cx="7959436" cy="4937760"/>
        </p:xfrm>
        <a:graphic>
          <a:graphicData uri="http://schemas.openxmlformats.org/drawingml/2006/table">
            <a:tbl>
              <a:tblPr>
                <a:tableStyleId>{D7AC3CCA-C797-4891-BE02-D94E43425B78}</a:tableStyleId>
              </a:tblPr>
              <a:tblGrid>
                <a:gridCol w="3979718">
                  <a:extLst>
                    <a:ext uri="{9D8B030D-6E8A-4147-A177-3AD203B41FA5}">
                      <a16:colId xmlns:a16="http://schemas.microsoft.com/office/drawing/2014/main" val="996461018"/>
                    </a:ext>
                  </a:extLst>
                </a:gridCol>
                <a:gridCol w="3979718">
                  <a:extLst>
                    <a:ext uri="{9D8B030D-6E8A-4147-A177-3AD203B41FA5}">
                      <a16:colId xmlns:a16="http://schemas.microsoft.com/office/drawing/2014/main" val="3304180868"/>
                    </a:ext>
                  </a:extLst>
                </a:gridCol>
              </a:tblGrid>
              <a:tr h="0">
                <a:tc>
                  <a:txBody>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smtClean="0"/>
                        <a:t>Ex :- Database</a:t>
                      </a:r>
                    </a:p>
                    <a:p>
                      <a:pPr marL="342900" indent="-342900" algn="just">
                        <a:buFont typeface="Arial" panose="020B0604020202020204" pitchFamily="34" charset="0"/>
                        <a:buChar char="•"/>
                      </a:pPr>
                      <a:endParaRPr lang="en-IN" sz="2000" dirty="0" smtClean="0"/>
                    </a:p>
                    <a:p>
                      <a:pPr marL="342900" indent="-342900" algn="just">
                        <a:buFont typeface="Arial" panose="020B0604020202020204" pitchFamily="34" charset="0"/>
                        <a:buChar char="•"/>
                      </a:pPr>
                      <a:endParaRPr lang="en-IN" sz="2000" dirty="0" smtClean="0"/>
                    </a:p>
                    <a:p>
                      <a:pPr marL="342900" indent="-342900" algn="just">
                        <a:buFont typeface="Arial" panose="020B0604020202020204" pitchFamily="34" charset="0"/>
                        <a:buChar char="•"/>
                      </a:pPr>
                      <a:r>
                        <a:rPr lang="en-IN" sz="2000" dirty="0" smtClean="0"/>
                        <a:t>Example</a:t>
                      </a:r>
                      <a:endParaRPr lang="en-IN" sz="2000" dirty="0"/>
                    </a:p>
                  </a:txBody>
                  <a:tcPr anchor="ctr"/>
                </a:tc>
                <a:tc>
                  <a:txBody>
                    <a:bodyPr/>
                    <a:lstStyle/>
                    <a:p>
                      <a:pPr marL="342900" indent="-342900" algn="just">
                        <a:buFont typeface="Arial" panose="020B0604020202020204" pitchFamily="34" charset="0"/>
                        <a:buChar char="•"/>
                      </a:pPr>
                      <a:endParaRPr lang="en-US" sz="2000" dirty="0" smtClean="0"/>
                    </a:p>
                    <a:p>
                      <a:pPr marL="342900" indent="-342900" algn="just">
                        <a:buFont typeface="Arial" panose="020B0604020202020204" pitchFamily="34" charset="0"/>
                        <a:buChar char="•"/>
                      </a:pPr>
                      <a:endParaRPr lang="en-US" sz="2000" dirty="0" smtClean="0"/>
                    </a:p>
                    <a:p>
                      <a:pPr marL="342900" indent="-342900" algn="just">
                        <a:buFont typeface="Arial" panose="020B0604020202020204" pitchFamily="34" charset="0"/>
                        <a:buChar char="•"/>
                      </a:pPr>
                      <a:r>
                        <a:rPr lang="en-US" sz="2000" dirty="0" smtClean="0"/>
                        <a:t>What </a:t>
                      </a:r>
                      <a:r>
                        <a:rPr lang="en-US" sz="2000" dirty="0"/>
                        <a:t>kind of data it stores</a:t>
                      </a:r>
                    </a:p>
                  </a:txBody>
                  <a:tcPr anchor="ctr"/>
                </a:tc>
                <a:extLst>
                  <a:ext uri="{0D108BD9-81ED-4DB2-BD59-A6C34878D82A}">
                    <a16:rowId xmlns:a16="http://schemas.microsoft.com/office/drawing/2014/main" val="1990406366"/>
                  </a:ext>
                </a:extLst>
              </a:tr>
              <a:tr h="0">
                <a:tc>
                  <a:txBody>
                    <a:bodyPr/>
                    <a:lstStyle/>
                    <a:p>
                      <a:pPr marL="342900" indent="-342900" algn="just">
                        <a:buFont typeface="Arial" panose="020B0604020202020204" pitchFamily="34" charset="0"/>
                        <a:buChar char="•"/>
                      </a:pPr>
                      <a:r>
                        <a:rPr lang="en-IN" sz="2000" dirty="0"/>
                        <a:t>School Management System</a:t>
                      </a:r>
                    </a:p>
                  </a:txBody>
                  <a:tcPr anchor="ctr"/>
                </a:tc>
                <a:tc>
                  <a:txBody>
                    <a:bodyPr/>
                    <a:lstStyle/>
                    <a:p>
                      <a:pPr marL="342900" indent="-342900" algn="just">
                        <a:buFont typeface="Arial" panose="020B0604020202020204" pitchFamily="34" charset="0"/>
                        <a:buChar char="•"/>
                      </a:pPr>
                      <a:r>
                        <a:rPr lang="en-US" sz="2000" dirty="0"/>
                        <a:t>Student names, roll numbers, marks, attendance</a:t>
                      </a:r>
                    </a:p>
                  </a:txBody>
                  <a:tcPr anchor="ctr"/>
                </a:tc>
                <a:extLst>
                  <a:ext uri="{0D108BD9-81ED-4DB2-BD59-A6C34878D82A}">
                    <a16:rowId xmlns:a16="http://schemas.microsoft.com/office/drawing/2014/main" val="2377191172"/>
                  </a:ext>
                </a:extLst>
              </a:tr>
              <a:tr h="0">
                <a:tc>
                  <a:txBody>
                    <a:bodyPr/>
                    <a:lstStyle/>
                    <a:p>
                      <a:pPr marL="342900" indent="-342900" algn="just">
                        <a:buFont typeface="Arial" panose="020B0604020202020204" pitchFamily="34" charset="0"/>
                        <a:buChar char="•"/>
                      </a:pPr>
                      <a:r>
                        <a:rPr lang="en-IN" sz="2000" dirty="0"/>
                        <a:t>Bank Database</a:t>
                      </a:r>
                    </a:p>
                  </a:txBody>
                  <a:tcPr anchor="ctr"/>
                </a:tc>
                <a:tc>
                  <a:txBody>
                    <a:bodyPr/>
                    <a:lstStyle/>
                    <a:p>
                      <a:pPr marL="342900" indent="-342900" algn="just">
                        <a:buFont typeface="Arial" panose="020B0604020202020204" pitchFamily="34" charset="0"/>
                        <a:buChar char="•"/>
                      </a:pPr>
                      <a:r>
                        <a:rPr lang="en-IN" sz="2000" dirty="0"/>
                        <a:t>Customer accounts, balances, transactions</a:t>
                      </a:r>
                    </a:p>
                  </a:txBody>
                  <a:tcPr anchor="ctr"/>
                </a:tc>
                <a:extLst>
                  <a:ext uri="{0D108BD9-81ED-4DB2-BD59-A6C34878D82A}">
                    <a16:rowId xmlns:a16="http://schemas.microsoft.com/office/drawing/2014/main" val="2007963528"/>
                  </a:ext>
                </a:extLst>
              </a:tr>
              <a:tr h="0">
                <a:tc>
                  <a:txBody>
                    <a:bodyPr/>
                    <a:lstStyle/>
                    <a:p>
                      <a:pPr marL="342900" indent="-342900" algn="just">
                        <a:buFont typeface="Arial" panose="020B0604020202020204" pitchFamily="34" charset="0"/>
                        <a:buChar char="•"/>
                      </a:pPr>
                      <a:r>
                        <a:rPr lang="en-IN" sz="2000" dirty="0"/>
                        <a:t>E-commerce Website (Amazon)</a:t>
                      </a:r>
                    </a:p>
                  </a:txBody>
                  <a:tcPr anchor="ctr"/>
                </a:tc>
                <a:tc>
                  <a:txBody>
                    <a:bodyPr/>
                    <a:lstStyle/>
                    <a:p>
                      <a:pPr marL="342900" indent="-342900" algn="just">
                        <a:buFont typeface="Arial" panose="020B0604020202020204" pitchFamily="34" charset="0"/>
                        <a:buChar char="•"/>
                      </a:pPr>
                      <a:r>
                        <a:rPr lang="en-US" sz="2000" dirty="0"/>
                        <a:t>Products, prices, customer details, orders</a:t>
                      </a:r>
                    </a:p>
                  </a:txBody>
                  <a:tcPr anchor="ctr"/>
                </a:tc>
                <a:extLst>
                  <a:ext uri="{0D108BD9-81ED-4DB2-BD59-A6C34878D82A}">
                    <a16:rowId xmlns:a16="http://schemas.microsoft.com/office/drawing/2014/main" val="1048123435"/>
                  </a:ext>
                </a:extLst>
              </a:tr>
              <a:tr h="0">
                <a:tc>
                  <a:txBody>
                    <a:bodyPr/>
                    <a:lstStyle/>
                    <a:p>
                      <a:pPr marL="342900" indent="-342900" algn="just">
                        <a:buFont typeface="Arial" panose="020B0604020202020204" pitchFamily="34" charset="0"/>
                        <a:buChar char="•"/>
                      </a:pPr>
                      <a:r>
                        <a:rPr lang="en-IN" sz="2000" dirty="0"/>
                        <a:t>Hospital System</a:t>
                      </a:r>
                    </a:p>
                  </a:txBody>
                  <a:tcPr anchor="ctr"/>
                </a:tc>
                <a:tc>
                  <a:txBody>
                    <a:bodyPr/>
                    <a:lstStyle/>
                    <a:p>
                      <a:pPr marL="342900" indent="-342900" algn="just">
                        <a:buFont typeface="Arial" panose="020B0604020202020204" pitchFamily="34" charset="0"/>
                        <a:buChar char="•"/>
                      </a:pPr>
                      <a:r>
                        <a:rPr lang="en-US" sz="2000" dirty="0"/>
                        <a:t>Patient records, medical history, appointments</a:t>
                      </a:r>
                    </a:p>
                  </a:txBody>
                  <a:tcPr anchor="ctr"/>
                </a:tc>
                <a:extLst>
                  <a:ext uri="{0D108BD9-81ED-4DB2-BD59-A6C34878D82A}">
                    <a16:rowId xmlns:a16="http://schemas.microsoft.com/office/drawing/2014/main" val="1263397535"/>
                  </a:ext>
                </a:extLst>
              </a:tr>
              <a:tr h="269860">
                <a:tc>
                  <a:txBody>
                    <a:bodyPr/>
                    <a:lstStyle/>
                    <a:p>
                      <a:pPr marL="342900" indent="-342900" algn="just">
                        <a:buFont typeface="Arial" panose="020B0604020202020204" pitchFamily="34" charset="0"/>
                        <a:buChar char="•"/>
                      </a:pPr>
                      <a:r>
                        <a:rPr lang="en-IN" sz="2000" dirty="0"/>
                        <a:t>Social Media (Instagram)</a:t>
                      </a:r>
                    </a:p>
                  </a:txBody>
                  <a:tcPr anchor="ctr"/>
                </a:tc>
                <a:tc>
                  <a:txBody>
                    <a:bodyPr/>
                    <a:lstStyle/>
                    <a:p>
                      <a:pPr marL="342900" indent="-342900" algn="just">
                        <a:buFont typeface="Arial" panose="020B0604020202020204" pitchFamily="34" charset="0"/>
                        <a:buChar char="•"/>
                      </a:pPr>
                      <a:r>
                        <a:rPr lang="fr-FR" sz="2000" dirty="0"/>
                        <a:t>User profiles, posts, likes, comments</a:t>
                      </a:r>
                    </a:p>
                  </a:txBody>
                  <a:tcPr anchor="ctr"/>
                </a:tc>
                <a:extLst>
                  <a:ext uri="{0D108BD9-81ED-4DB2-BD59-A6C34878D82A}">
                    <a16:rowId xmlns:a16="http://schemas.microsoft.com/office/drawing/2014/main" val="3453724541"/>
                  </a:ext>
                </a:extLst>
              </a:tr>
            </a:tbl>
          </a:graphicData>
        </a:graphic>
      </p:graphicFrame>
    </p:spTree>
    <p:extLst>
      <p:ext uri="{BB962C8B-B14F-4D97-AF65-F5344CB8AC3E}">
        <p14:creationId xmlns:p14="http://schemas.microsoft.com/office/powerpoint/2010/main" val="1919230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5127" y="1200144"/>
            <a:ext cx="7800109" cy="4616648"/>
          </a:xfrm>
          <a:prstGeom prst="rect">
            <a:avLst/>
          </a:prstGeom>
        </p:spPr>
        <p:txBody>
          <a:bodyPr wrap="square">
            <a:spAutoFit/>
          </a:bodyPr>
          <a:lstStyle/>
          <a:p>
            <a:pPr algn="just">
              <a:lnSpc>
                <a:spcPct val="150000"/>
              </a:lnSpc>
            </a:pPr>
            <a:r>
              <a:rPr lang="en-US" sz="2800" b="1" dirty="0" smtClean="0"/>
              <a:t>What </a:t>
            </a:r>
            <a:r>
              <a:rPr lang="en-US" sz="2800" b="1" dirty="0"/>
              <a:t>are SQL Data Types?</a:t>
            </a:r>
          </a:p>
          <a:p>
            <a:pPr marL="342900" indent="-342900" algn="just">
              <a:lnSpc>
                <a:spcPct val="150000"/>
              </a:lnSpc>
              <a:buFont typeface="Arial" panose="020B0604020202020204" pitchFamily="34" charset="0"/>
              <a:buChar char="•"/>
            </a:pPr>
            <a:r>
              <a:rPr lang="en-US" sz="2400" b="1" dirty="0"/>
              <a:t>Data Types</a:t>
            </a:r>
            <a:r>
              <a:rPr lang="en-US" sz="2400" dirty="0"/>
              <a:t> in SQL define </a:t>
            </a:r>
            <a:r>
              <a:rPr lang="en-US" sz="2400" b="1" dirty="0"/>
              <a:t>what kind of data</a:t>
            </a:r>
            <a:r>
              <a:rPr lang="en-US" sz="2400" dirty="0"/>
              <a:t> can be stored in a column of a table. They tell the database how to store, handle, and validate the data.</a:t>
            </a:r>
          </a:p>
          <a:p>
            <a:pPr marL="342900" indent="-342900" algn="just">
              <a:lnSpc>
                <a:spcPct val="150000"/>
              </a:lnSpc>
              <a:buFont typeface="Arial" panose="020B0604020202020204" pitchFamily="34" charset="0"/>
              <a:buChar char="•"/>
            </a:pPr>
            <a:r>
              <a:rPr lang="en-US" sz="2400" dirty="0"/>
              <a:t>Choosing the correct data type is very important for:</a:t>
            </a:r>
          </a:p>
          <a:p>
            <a:pPr marL="342900" indent="-342900" algn="just">
              <a:lnSpc>
                <a:spcPct val="150000"/>
              </a:lnSpc>
              <a:buFont typeface="Arial" panose="020B0604020202020204" pitchFamily="34" charset="0"/>
              <a:buChar char="•"/>
            </a:pPr>
            <a:r>
              <a:rPr lang="en-US" sz="2400" dirty="0"/>
              <a:t>Saving storage space</a:t>
            </a:r>
          </a:p>
          <a:p>
            <a:pPr marL="342900" indent="-342900" algn="just">
              <a:lnSpc>
                <a:spcPct val="150000"/>
              </a:lnSpc>
              <a:buFont typeface="Arial" panose="020B0604020202020204" pitchFamily="34" charset="0"/>
              <a:buChar char="•"/>
            </a:pPr>
            <a:r>
              <a:rPr lang="en-US" sz="2400" dirty="0"/>
              <a:t>Better performance</a:t>
            </a:r>
          </a:p>
          <a:p>
            <a:pPr marL="342900" indent="-342900" algn="just">
              <a:lnSpc>
                <a:spcPct val="150000"/>
              </a:lnSpc>
              <a:buFont typeface="Arial" panose="020B0604020202020204" pitchFamily="34" charset="0"/>
              <a:buChar char="•"/>
            </a:pPr>
            <a:r>
              <a:rPr lang="en-US" sz="2400" dirty="0"/>
              <a:t>Data accuracy and validation</a:t>
            </a:r>
          </a:p>
        </p:txBody>
      </p:sp>
    </p:spTree>
    <p:extLst>
      <p:ext uri="{BB962C8B-B14F-4D97-AF65-F5344CB8AC3E}">
        <p14:creationId xmlns:p14="http://schemas.microsoft.com/office/powerpoint/2010/main" val="1932788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24628576"/>
              </p:ext>
            </p:extLst>
          </p:nvPr>
        </p:nvGraphicFramePr>
        <p:xfrm>
          <a:off x="810491" y="2196249"/>
          <a:ext cx="7772400" cy="3291840"/>
        </p:xfrm>
        <a:graphic>
          <a:graphicData uri="http://schemas.openxmlformats.org/drawingml/2006/table">
            <a:tbl>
              <a:tblPr>
                <a:tableStyleId>{D7AC3CCA-C797-4891-BE02-D94E43425B78}</a:tableStyleId>
              </a:tblPr>
              <a:tblGrid>
                <a:gridCol w="2590800">
                  <a:extLst>
                    <a:ext uri="{9D8B030D-6E8A-4147-A177-3AD203B41FA5}">
                      <a16:colId xmlns:a16="http://schemas.microsoft.com/office/drawing/2014/main" val="368651560"/>
                    </a:ext>
                  </a:extLst>
                </a:gridCol>
                <a:gridCol w="2590800">
                  <a:extLst>
                    <a:ext uri="{9D8B030D-6E8A-4147-A177-3AD203B41FA5}">
                      <a16:colId xmlns:a16="http://schemas.microsoft.com/office/drawing/2014/main" val="3186301571"/>
                    </a:ext>
                  </a:extLst>
                </a:gridCol>
                <a:gridCol w="2590800">
                  <a:extLst>
                    <a:ext uri="{9D8B030D-6E8A-4147-A177-3AD203B41FA5}">
                      <a16:colId xmlns:a16="http://schemas.microsoft.com/office/drawing/2014/main" val="1575070809"/>
                    </a:ext>
                  </a:extLst>
                </a:gridCol>
              </a:tblGrid>
              <a:tr h="0">
                <a:tc>
                  <a:txBody>
                    <a:bodyPr/>
                    <a:lstStyle/>
                    <a:p>
                      <a:r>
                        <a:rPr lang="en-IN" sz="2000" dirty="0"/>
                        <a:t>Category</a:t>
                      </a:r>
                      <a:endParaRPr lang="en-IN" sz="2000" b="1" dirty="0"/>
                    </a:p>
                  </a:txBody>
                  <a:tcPr anchor="ctr"/>
                </a:tc>
                <a:tc>
                  <a:txBody>
                    <a:bodyPr/>
                    <a:lstStyle/>
                    <a:p>
                      <a:r>
                        <a:rPr lang="en-IN" sz="2000" dirty="0"/>
                        <a:t>Purpose</a:t>
                      </a:r>
                      <a:endParaRPr lang="en-IN" sz="2000" b="1" dirty="0"/>
                    </a:p>
                  </a:txBody>
                  <a:tcPr anchor="ctr"/>
                </a:tc>
                <a:tc>
                  <a:txBody>
                    <a:bodyPr/>
                    <a:lstStyle/>
                    <a:p>
                      <a:r>
                        <a:rPr lang="en-IN" sz="2000" dirty="0"/>
                        <a:t>Common Data Types</a:t>
                      </a:r>
                      <a:endParaRPr lang="en-IN" sz="2000" b="1" dirty="0"/>
                    </a:p>
                  </a:txBody>
                  <a:tcPr anchor="ctr"/>
                </a:tc>
                <a:extLst>
                  <a:ext uri="{0D108BD9-81ED-4DB2-BD59-A6C34878D82A}">
                    <a16:rowId xmlns:a16="http://schemas.microsoft.com/office/drawing/2014/main" val="3013646816"/>
                  </a:ext>
                </a:extLst>
              </a:tr>
              <a:tr h="0">
                <a:tc>
                  <a:txBody>
                    <a:bodyPr/>
                    <a:lstStyle/>
                    <a:p>
                      <a:pPr marL="285750" indent="-285750">
                        <a:buFont typeface="Arial" panose="020B0604020202020204" pitchFamily="34" charset="0"/>
                        <a:buChar char="•"/>
                      </a:pPr>
                      <a:r>
                        <a:rPr lang="en-IN" sz="2000" dirty="0"/>
                        <a:t>Numeric</a:t>
                      </a:r>
                    </a:p>
                  </a:txBody>
                  <a:tcPr anchor="ctr"/>
                </a:tc>
                <a:tc>
                  <a:txBody>
                    <a:bodyPr/>
                    <a:lstStyle/>
                    <a:p>
                      <a:r>
                        <a:rPr lang="en-IN" sz="2000" dirty="0"/>
                        <a:t>Numbers (integers &amp; decimals)</a:t>
                      </a:r>
                    </a:p>
                  </a:txBody>
                  <a:tcPr anchor="ctr"/>
                </a:tc>
                <a:tc>
                  <a:txBody>
                    <a:bodyPr/>
                    <a:lstStyle/>
                    <a:p>
                      <a:r>
                        <a:rPr lang="en-IN" sz="2000" dirty="0"/>
                        <a:t>INT, BIGINT, DECIMAL, FLOAT</a:t>
                      </a:r>
                    </a:p>
                  </a:txBody>
                  <a:tcPr anchor="ctr"/>
                </a:tc>
                <a:extLst>
                  <a:ext uri="{0D108BD9-81ED-4DB2-BD59-A6C34878D82A}">
                    <a16:rowId xmlns:a16="http://schemas.microsoft.com/office/drawing/2014/main" val="2913238804"/>
                  </a:ext>
                </a:extLst>
              </a:tr>
              <a:tr h="0">
                <a:tc>
                  <a:txBody>
                    <a:bodyPr/>
                    <a:lstStyle/>
                    <a:p>
                      <a:pPr marL="285750" indent="-285750">
                        <a:buFont typeface="Arial" panose="020B0604020202020204" pitchFamily="34" charset="0"/>
                        <a:buChar char="•"/>
                      </a:pPr>
                      <a:r>
                        <a:rPr lang="en-IN" sz="2000" dirty="0"/>
                        <a:t>String/Text</a:t>
                      </a:r>
                    </a:p>
                  </a:txBody>
                  <a:tcPr anchor="ctr"/>
                </a:tc>
                <a:tc>
                  <a:txBody>
                    <a:bodyPr/>
                    <a:lstStyle/>
                    <a:p>
                      <a:r>
                        <a:rPr lang="en-IN" sz="2000" dirty="0"/>
                        <a:t>Text and characters</a:t>
                      </a:r>
                    </a:p>
                  </a:txBody>
                  <a:tcPr anchor="ctr"/>
                </a:tc>
                <a:tc>
                  <a:txBody>
                    <a:bodyPr/>
                    <a:lstStyle/>
                    <a:p>
                      <a:r>
                        <a:rPr lang="en-IN" sz="2000" dirty="0"/>
                        <a:t>VARCHAR, CHAR, TEXT</a:t>
                      </a:r>
                    </a:p>
                  </a:txBody>
                  <a:tcPr anchor="ctr"/>
                </a:tc>
                <a:extLst>
                  <a:ext uri="{0D108BD9-81ED-4DB2-BD59-A6C34878D82A}">
                    <a16:rowId xmlns:a16="http://schemas.microsoft.com/office/drawing/2014/main" val="2609742511"/>
                  </a:ext>
                </a:extLst>
              </a:tr>
              <a:tr h="0">
                <a:tc>
                  <a:txBody>
                    <a:bodyPr/>
                    <a:lstStyle/>
                    <a:p>
                      <a:pPr marL="285750" indent="-285750">
                        <a:buFont typeface="Arial" panose="020B0604020202020204" pitchFamily="34" charset="0"/>
                        <a:buChar char="•"/>
                      </a:pPr>
                      <a:r>
                        <a:rPr lang="en-IN" sz="2000" dirty="0"/>
                        <a:t>Date and Time</a:t>
                      </a:r>
                    </a:p>
                  </a:txBody>
                  <a:tcPr anchor="ctr"/>
                </a:tc>
                <a:tc>
                  <a:txBody>
                    <a:bodyPr/>
                    <a:lstStyle/>
                    <a:p>
                      <a:r>
                        <a:rPr lang="en-IN" sz="2000" dirty="0"/>
                        <a:t>Dates, times, timestamps</a:t>
                      </a:r>
                    </a:p>
                  </a:txBody>
                  <a:tcPr anchor="ctr"/>
                </a:tc>
                <a:tc>
                  <a:txBody>
                    <a:bodyPr/>
                    <a:lstStyle/>
                    <a:p>
                      <a:r>
                        <a:rPr lang="en-IN" sz="2000" dirty="0"/>
                        <a:t>DATE, TIME, DATETIME, TIMESTAMP</a:t>
                      </a:r>
                    </a:p>
                  </a:txBody>
                  <a:tcPr anchor="ctr"/>
                </a:tc>
                <a:extLst>
                  <a:ext uri="{0D108BD9-81ED-4DB2-BD59-A6C34878D82A}">
                    <a16:rowId xmlns:a16="http://schemas.microsoft.com/office/drawing/2014/main" val="509959704"/>
                  </a:ext>
                </a:extLst>
              </a:tr>
              <a:tr h="0">
                <a:tc>
                  <a:txBody>
                    <a:bodyPr/>
                    <a:lstStyle/>
                    <a:p>
                      <a:pPr marL="285750" indent="-285750">
                        <a:buFont typeface="Arial" panose="020B0604020202020204" pitchFamily="34" charset="0"/>
                        <a:buChar char="•"/>
                      </a:pPr>
                      <a:r>
                        <a:rPr lang="en-IN" sz="2000" dirty="0"/>
                        <a:t>Boolean</a:t>
                      </a:r>
                    </a:p>
                  </a:txBody>
                  <a:tcPr anchor="ctr"/>
                </a:tc>
                <a:tc>
                  <a:txBody>
                    <a:bodyPr/>
                    <a:lstStyle/>
                    <a:p>
                      <a:r>
                        <a:rPr lang="en-IN" sz="2000" dirty="0"/>
                        <a:t>True/False values</a:t>
                      </a:r>
                    </a:p>
                  </a:txBody>
                  <a:tcPr anchor="ctr"/>
                </a:tc>
                <a:tc>
                  <a:txBody>
                    <a:bodyPr/>
                    <a:lstStyle/>
                    <a:p>
                      <a:r>
                        <a:rPr lang="en-IN" sz="2000" dirty="0"/>
                        <a:t>BOOLEAN / BOOL</a:t>
                      </a:r>
                    </a:p>
                  </a:txBody>
                  <a:tcPr anchor="ctr"/>
                </a:tc>
                <a:extLst>
                  <a:ext uri="{0D108BD9-81ED-4DB2-BD59-A6C34878D82A}">
                    <a16:rowId xmlns:a16="http://schemas.microsoft.com/office/drawing/2014/main" val="3274961498"/>
                  </a:ext>
                </a:extLst>
              </a:tr>
              <a:tr h="0">
                <a:tc>
                  <a:txBody>
                    <a:bodyPr/>
                    <a:lstStyle/>
                    <a:p>
                      <a:pPr marL="285750" indent="-285750">
                        <a:buFont typeface="Arial" panose="020B0604020202020204" pitchFamily="34" charset="0"/>
                        <a:buChar char="•"/>
                      </a:pPr>
                      <a:r>
                        <a:rPr lang="en-IN" sz="2000" dirty="0"/>
                        <a:t>Binary</a:t>
                      </a:r>
                    </a:p>
                  </a:txBody>
                  <a:tcPr anchor="ctr"/>
                </a:tc>
                <a:tc>
                  <a:txBody>
                    <a:bodyPr/>
                    <a:lstStyle/>
                    <a:p>
                      <a:r>
                        <a:rPr lang="en-IN" sz="2000" dirty="0"/>
                        <a:t>Binary data (images, files, etc.)</a:t>
                      </a:r>
                    </a:p>
                  </a:txBody>
                  <a:tcPr anchor="ctr"/>
                </a:tc>
                <a:tc>
                  <a:txBody>
                    <a:bodyPr/>
                    <a:lstStyle/>
                    <a:p>
                      <a:r>
                        <a:rPr lang="en-IN" sz="2000" dirty="0"/>
                        <a:t>BLOB, VARBINARY</a:t>
                      </a:r>
                    </a:p>
                  </a:txBody>
                  <a:tcPr anchor="ctr"/>
                </a:tc>
                <a:extLst>
                  <a:ext uri="{0D108BD9-81ED-4DB2-BD59-A6C34878D82A}">
                    <a16:rowId xmlns:a16="http://schemas.microsoft.com/office/drawing/2014/main" val="985281491"/>
                  </a:ext>
                </a:extLst>
              </a:tr>
            </a:tbl>
          </a:graphicData>
        </a:graphic>
      </p:graphicFrame>
      <p:sp>
        <p:nvSpPr>
          <p:cNvPr id="3" name="Rectangle 2"/>
          <p:cNvSpPr/>
          <p:nvPr/>
        </p:nvSpPr>
        <p:spPr>
          <a:xfrm>
            <a:off x="810491" y="1519167"/>
            <a:ext cx="7405254" cy="461665"/>
          </a:xfrm>
          <a:prstGeom prst="rect">
            <a:avLst/>
          </a:prstGeom>
        </p:spPr>
        <p:txBody>
          <a:bodyPr wrap="square">
            <a:spAutoFit/>
          </a:bodyPr>
          <a:lstStyle/>
          <a:p>
            <a:pPr marL="342900" indent="-342900" algn="just">
              <a:buFont typeface="Arial" panose="020B0604020202020204" pitchFamily="34" charset="0"/>
              <a:buChar char="•"/>
            </a:pPr>
            <a:r>
              <a:rPr lang="en-US" sz="2400" b="1" dirty="0"/>
              <a:t>Main Categories of SQL Data Types</a:t>
            </a:r>
          </a:p>
        </p:txBody>
      </p:sp>
    </p:spTree>
    <p:extLst>
      <p:ext uri="{BB962C8B-B14F-4D97-AF65-F5344CB8AC3E}">
        <p14:creationId xmlns:p14="http://schemas.microsoft.com/office/powerpoint/2010/main" val="592257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96038553"/>
              </p:ext>
            </p:extLst>
          </p:nvPr>
        </p:nvGraphicFramePr>
        <p:xfrm>
          <a:off x="622087" y="1895908"/>
          <a:ext cx="7912312" cy="3798309"/>
        </p:xfrm>
        <a:graphic>
          <a:graphicData uri="http://schemas.openxmlformats.org/drawingml/2006/table">
            <a:tbl>
              <a:tblPr>
                <a:tableStyleId>{D7AC3CCA-C797-4891-BE02-D94E43425B78}</a:tableStyleId>
              </a:tblPr>
              <a:tblGrid>
                <a:gridCol w="1978078">
                  <a:extLst>
                    <a:ext uri="{9D8B030D-6E8A-4147-A177-3AD203B41FA5}">
                      <a16:colId xmlns:a16="http://schemas.microsoft.com/office/drawing/2014/main" val="2887890703"/>
                    </a:ext>
                  </a:extLst>
                </a:gridCol>
                <a:gridCol w="1978078">
                  <a:extLst>
                    <a:ext uri="{9D8B030D-6E8A-4147-A177-3AD203B41FA5}">
                      <a16:colId xmlns:a16="http://schemas.microsoft.com/office/drawing/2014/main" val="2548104458"/>
                    </a:ext>
                  </a:extLst>
                </a:gridCol>
                <a:gridCol w="1978078">
                  <a:extLst>
                    <a:ext uri="{9D8B030D-6E8A-4147-A177-3AD203B41FA5}">
                      <a16:colId xmlns:a16="http://schemas.microsoft.com/office/drawing/2014/main" val="174088452"/>
                    </a:ext>
                  </a:extLst>
                </a:gridCol>
                <a:gridCol w="1978078">
                  <a:extLst>
                    <a:ext uri="{9D8B030D-6E8A-4147-A177-3AD203B41FA5}">
                      <a16:colId xmlns:a16="http://schemas.microsoft.com/office/drawing/2014/main" val="598818483"/>
                    </a:ext>
                  </a:extLst>
                </a:gridCol>
              </a:tblGrid>
              <a:tr h="421129">
                <a:tc>
                  <a:txBody>
                    <a:bodyPr/>
                    <a:lstStyle/>
                    <a:p>
                      <a:r>
                        <a:rPr lang="en-IN" sz="2000" dirty="0"/>
                        <a:t>Data Type</a:t>
                      </a:r>
                      <a:endParaRPr lang="en-IN" sz="2000" b="1" dirty="0"/>
                    </a:p>
                  </a:txBody>
                  <a:tcPr marL="81529" marR="81529" marT="40765" marB="40765" anchor="ctr"/>
                </a:tc>
                <a:tc>
                  <a:txBody>
                    <a:bodyPr/>
                    <a:lstStyle/>
                    <a:p>
                      <a:r>
                        <a:rPr lang="en-IN" sz="2000" dirty="0"/>
                        <a:t>Description</a:t>
                      </a:r>
                      <a:endParaRPr lang="en-IN" sz="2000" b="1" dirty="0"/>
                    </a:p>
                  </a:txBody>
                  <a:tcPr marL="81529" marR="81529" marT="40765" marB="40765" anchor="ctr"/>
                </a:tc>
                <a:tc>
                  <a:txBody>
                    <a:bodyPr/>
                    <a:lstStyle/>
                    <a:p>
                      <a:r>
                        <a:rPr lang="en-IN" sz="2000" dirty="0"/>
                        <a:t>Example Values</a:t>
                      </a:r>
                      <a:endParaRPr lang="en-IN" sz="2000" b="1" dirty="0"/>
                    </a:p>
                  </a:txBody>
                  <a:tcPr marL="81529" marR="81529" marT="40765" marB="40765" anchor="ctr"/>
                </a:tc>
                <a:tc>
                  <a:txBody>
                    <a:bodyPr/>
                    <a:lstStyle/>
                    <a:p>
                      <a:r>
                        <a:rPr lang="en-IN" sz="2000" dirty="0"/>
                        <a:t>When to Use</a:t>
                      </a:r>
                      <a:endParaRPr lang="en-IN" sz="2000" b="1" dirty="0"/>
                    </a:p>
                  </a:txBody>
                  <a:tcPr marL="81529" marR="81529" marT="40765" marB="40765" anchor="ctr"/>
                </a:tc>
                <a:extLst>
                  <a:ext uri="{0D108BD9-81ED-4DB2-BD59-A6C34878D82A}">
                    <a16:rowId xmlns:a16="http://schemas.microsoft.com/office/drawing/2014/main" val="3346277374"/>
                  </a:ext>
                </a:extLst>
              </a:tr>
              <a:tr h="622112">
                <a:tc>
                  <a:txBody>
                    <a:bodyPr/>
                    <a:lstStyle/>
                    <a:p>
                      <a:r>
                        <a:rPr lang="en-IN" sz="1600" dirty="0"/>
                        <a:t>INT</a:t>
                      </a:r>
                    </a:p>
                  </a:txBody>
                  <a:tcPr marL="81529" marR="81529" marT="40765" marB="40765" anchor="ctr"/>
                </a:tc>
                <a:tc>
                  <a:txBody>
                    <a:bodyPr/>
                    <a:lstStyle/>
                    <a:p>
                      <a:r>
                        <a:rPr lang="en-IN" sz="1600" dirty="0"/>
                        <a:t>Integer (whole numbers)</a:t>
                      </a:r>
                    </a:p>
                  </a:txBody>
                  <a:tcPr marL="81529" marR="81529" marT="40765" marB="40765" anchor="ctr"/>
                </a:tc>
                <a:tc>
                  <a:txBody>
                    <a:bodyPr/>
                    <a:lstStyle/>
                    <a:p>
                      <a:r>
                        <a:rPr lang="en-IN" sz="1600" dirty="0"/>
                        <a:t>25, -10, 100000</a:t>
                      </a:r>
                    </a:p>
                  </a:txBody>
                  <a:tcPr marL="81529" marR="81529" marT="40765" marB="40765" anchor="ctr"/>
                </a:tc>
                <a:tc>
                  <a:txBody>
                    <a:bodyPr/>
                    <a:lstStyle/>
                    <a:p>
                      <a:r>
                        <a:rPr lang="en-IN" sz="1600" dirty="0"/>
                        <a:t>Age, Quantity, Student ID</a:t>
                      </a:r>
                    </a:p>
                  </a:txBody>
                  <a:tcPr marL="81529" marR="81529" marT="40765" marB="40765" anchor="ctr"/>
                </a:tc>
                <a:extLst>
                  <a:ext uri="{0D108BD9-81ED-4DB2-BD59-A6C34878D82A}">
                    <a16:rowId xmlns:a16="http://schemas.microsoft.com/office/drawing/2014/main" val="3049940407"/>
                  </a:ext>
                </a:extLst>
              </a:tr>
              <a:tr h="622112">
                <a:tc>
                  <a:txBody>
                    <a:bodyPr/>
                    <a:lstStyle/>
                    <a:p>
                      <a:r>
                        <a:rPr lang="en-IN" sz="1600" dirty="0"/>
                        <a:t>BIGINT</a:t>
                      </a:r>
                    </a:p>
                  </a:txBody>
                  <a:tcPr marL="81529" marR="81529" marT="40765" marB="40765" anchor="ctr"/>
                </a:tc>
                <a:tc>
                  <a:txBody>
                    <a:bodyPr/>
                    <a:lstStyle/>
                    <a:p>
                      <a:r>
                        <a:rPr lang="en-IN" sz="1600" dirty="0"/>
                        <a:t>Very large integers</a:t>
                      </a:r>
                    </a:p>
                  </a:txBody>
                  <a:tcPr marL="81529" marR="81529" marT="40765" marB="40765" anchor="ctr"/>
                </a:tc>
                <a:tc>
                  <a:txBody>
                    <a:bodyPr/>
                    <a:lstStyle/>
                    <a:p>
                      <a:r>
                        <a:rPr lang="en-IN" sz="1600" dirty="0"/>
                        <a:t>9876543210</a:t>
                      </a:r>
                    </a:p>
                  </a:txBody>
                  <a:tcPr marL="81529" marR="81529" marT="40765" marB="40765" anchor="ctr"/>
                </a:tc>
                <a:tc>
                  <a:txBody>
                    <a:bodyPr/>
                    <a:lstStyle/>
                    <a:p>
                      <a:r>
                        <a:rPr lang="en-IN" sz="1600" dirty="0"/>
                        <a:t>Phone numbers, Large IDs</a:t>
                      </a:r>
                    </a:p>
                  </a:txBody>
                  <a:tcPr marL="81529" marR="81529" marT="40765" marB="40765" anchor="ctr"/>
                </a:tc>
                <a:extLst>
                  <a:ext uri="{0D108BD9-81ED-4DB2-BD59-A6C34878D82A}">
                    <a16:rowId xmlns:a16="http://schemas.microsoft.com/office/drawing/2014/main" val="1497849213"/>
                  </a:ext>
                </a:extLst>
              </a:tr>
              <a:tr h="888732">
                <a:tc>
                  <a:txBody>
                    <a:bodyPr/>
                    <a:lstStyle/>
                    <a:p>
                      <a:r>
                        <a:rPr lang="en-IN" sz="1600" dirty="0"/>
                        <a:t>DECIMAL(p,d)</a:t>
                      </a:r>
                    </a:p>
                  </a:txBody>
                  <a:tcPr marL="81529" marR="81529" marT="40765" marB="40765" anchor="ctr"/>
                </a:tc>
                <a:tc>
                  <a:txBody>
                    <a:bodyPr/>
                    <a:lstStyle/>
                    <a:p>
                      <a:r>
                        <a:rPr lang="en-IN" sz="1600" dirty="0"/>
                        <a:t>Exact decimal numbers</a:t>
                      </a:r>
                    </a:p>
                  </a:txBody>
                  <a:tcPr marL="81529" marR="81529" marT="40765" marB="40765" anchor="ctr"/>
                </a:tc>
                <a:tc>
                  <a:txBody>
                    <a:bodyPr/>
                    <a:lstStyle/>
                    <a:p>
                      <a:r>
                        <a:rPr lang="en-IN" sz="1600" dirty="0"/>
                        <a:t>99.99, 1234.567</a:t>
                      </a:r>
                    </a:p>
                  </a:txBody>
                  <a:tcPr marL="81529" marR="81529" marT="40765" marB="40765" anchor="ctr"/>
                </a:tc>
                <a:tc>
                  <a:txBody>
                    <a:bodyPr/>
                    <a:lstStyle/>
                    <a:p>
                      <a:r>
                        <a:rPr lang="en-US" sz="1600" dirty="0"/>
                        <a:t>Price, Salary, Marks (with decimals)</a:t>
                      </a:r>
                    </a:p>
                  </a:txBody>
                  <a:tcPr marL="81529" marR="81529" marT="40765" marB="40765" anchor="ctr"/>
                </a:tc>
                <a:extLst>
                  <a:ext uri="{0D108BD9-81ED-4DB2-BD59-A6C34878D82A}">
                    <a16:rowId xmlns:a16="http://schemas.microsoft.com/office/drawing/2014/main" val="2707471917"/>
                  </a:ext>
                </a:extLst>
              </a:tr>
              <a:tr h="622112">
                <a:tc>
                  <a:txBody>
                    <a:bodyPr/>
                    <a:lstStyle/>
                    <a:p>
                      <a:r>
                        <a:rPr lang="en-IN" sz="1600" dirty="0"/>
                        <a:t>FLOAT</a:t>
                      </a:r>
                    </a:p>
                  </a:txBody>
                  <a:tcPr marL="81529" marR="81529" marT="40765" marB="40765" anchor="ctr"/>
                </a:tc>
                <a:tc>
                  <a:txBody>
                    <a:bodyPr/>
                    <a:lstStyle/>
                    <a:p>
                      <a:r>
                        <a:rPr lang="en-IN" sz="1600" dirty="0"/>
                        <a:t>Approximate decimal numbers</a:t>
                      </a:r>
                    </a:p>
                  </a:txBody>
                  <a:tcPr marL="81529" marR="81529" marT="40765" marB="40765" anchor="ctr"/>
                </a:tc>
                <a:tc>
                  <a:txBody>
                    <a:bodyPr/>
                    <a:lstStyle/>
                    <a:p>
                      <a:r>
                        <a:rPr lang="en-IN" sz="1600" dirty="0"/>
                        <a:t>3.14159</a:t>
                      </a:r>
                    </a:p>
                  </a:txBody>
                  <a:tcPr marL="81529" marR="81529" marT="40765" marB="40765" anchor="ctr"/>
                </a:tc>
                <a:tc>
                  <a:txBody>
                    <a:bodyPr/>
                    <a:lstStyle/>
                    <a:p>
                      <a:r>
                        <a:rPr lang="en-IN" sz="1600" dirty="0"/>
                        <a:t>Scientific calculations</a:t>
                      </a:r>
                    </a:p>
                  </a:txBody>
                  <a:tcPr marL="81529" marR="81529" marT="40765" marB="40765" anchor="ctr"/>
                </a:tc>
                <a:extLst>
                  <a:ext uri="{0D108BD9-81ED-4DB2-BD59-A6C34878D82A}">
                    <a16:rowId xmlns:a16="http://schemas.microsoft.com/office/drawing/2014/main" val="2420572723"/>
                  </a:ext>
                </a:extLst>
              </a:tr>
              <a:tr h="622112">
                <a:tc>
                  <a:txBody>
                    <a:bodyPr/>
                    <a:lstStyle/>
                    <a:p>
                      <a:r>
                        <a:rPr lang="en-IN" sz="1600" dirty="0"/>
                        <a:t>SMALLINT</a:t>
                      </a:r>
                    </a:p>
                  </a:txBody>
                  <a:tcPr marL="81529" marR="81529" marT="40765" marB="40765" anchor="ctr"/>
                </a:tc>
                <a:tc>
                  <a:txBody>
                    <a:bodyPr/>
                    <a:lstStyle/>
                    <a:p>
                      <a:r>
                        <a:rPr lang="en-IN" sz="1600" dirty="0"/>
                        <a:t>Small range integers</a:t>
                      </a:r>
                    </a:p>
                  </a:txBody>
                  <a:tcPr marL="81529" marR="81529" marT="40765" marB="40765" anchor="ctr"/>
                </a:tc>
                <a:tc>
                  <a:txBody>
                    <a:bodyPr/>
                    <a:lstStyle/>
                    <a:p>
                      <a:r>
                        <a:rPr lang="en-IN" sz="1600" dirty="0"/>
                        <a:t>1 to 32767</a:t>
                      </a:r>
                    </a:p>
                  </a:txBody>
                  <a:tcPr marL="81529" marR="81529" marT="40765" marB="40765" anchor="ctr"/>
                </a:tc>
                <a:tc>
                  <a:txBody>
                    <a:bodyPr/>
                    <a:lstStyle/>
                    <a:p>
                      <a:r>
                        <a:rPr lang="en-IN" sz="1600" dirty="0"/>
                        <a:t>Status codes, Small counts</a:t>
                      </a:r>
                    </a:p>
                  </a:txBody>
                  <a:tcPr marL="81529" marR="81529" marT="40765" marB="40765" anchor="ctr"/>
                </a:tc>
                <a:extLst>
                  <a:ext uri="{0D108BD9-81ED-4DB2-BD59-A6C34878D82A}">
                    <a16:rowId xmlns:a16="http://schemas.microsoft.com/office/drawing/2014/main" val="140077931"/>
                  </a:ext>
                </a:extLst>
              </a:tr>
            </a:tbl>
          </a:graphicData>
        </a:graphic>
      </p:graphicFrame>
      <p:sp>
        <p:nvSpPr>
          <p:cNvPr id="3" name="Rectangle 2"/>
          <p:cNvSpPr/>
          <p:nvPr/>
        </p:nvSpPr>
        <p:spPr>
          <a:xfrm>
            <a:off x="622086" y="1263134"/>
            <a:ext cx="3437295" cy="461665"/>
          </a:xfrm>
          <a:prstGeom prst="rect">
            <a:avLst/>
          </a:prstGeom>
        </p:spPr>
        <p:txBody>
          <a:bodyPr wrap="square">
            <a:spAutoFit/>
          </a:bodyPr>
          <a:lstStyle/>
          <a:p>
            <a:r>
              <a:rPr lang="en-IN" sz="2400" b="1" dirty="0"/>
              <a:t>1. Numeric Data Types</a:t>
            </a:r>
            <a:endParaRPr lang="en-IN" sz="2400" b="1" dirty="0">
              <a:effectLst/>
            </a:endParaRPr>
          </a:p>
        </p:txBody>
      </p:sp>
    </p:spTree>
    <p:extLst>
      <p:ext uri="{BB962C8B-B14F-4D97-AF65-F5344CB8AC3E}">
        <p14:creationId xmlns:p14="http://schemas.microsoft.com/office/powerpoint/2010/main" val="1927587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00905355"/>
              </p:ext>
            </p:extLst>
          </p:nvPr>
        </p:nvGraphicFramePr>
        <p:xfrm>
          <a:off x="685800" y="2001201"/>
          <a:ext cx="7987144" cy="3097272"/>
        </p:xfrm>
        <a:graphic>
          <a:graphicData uri="http://schemas.openxmlformats.org/drawingml/2006/table">
            <a:tbl>
              <a:tblPr>
                <a:tableStyleId>{D7AC3CCA-C797-4891-BE02-D94E43425B78}</a:tableStyleId>
              </a:tblPr>
              <a:tblGrid>
                <a:gridCol w="1996786">
                  <a:extLst>
                    <a:ext uri="{9D8B030D-6E8A-4147-A177-3AD203B41FA5}">
                      <a16:colId xmlns:a16="http://schemas.microsoft.com/office/drawing/2014/main" val="4077957932"/>
                    </a:ext>
                  </a:extLst>
                </a:gridCol>
                <a:gridCol w="1996786">
                  <a:extLst>
                    <a:ext uri="{9D8B030D-6E8A-4147-A177-3AD203B41FA5}">
                      <a16:colId xmlns:a16="http://schemas.microsoft.com/office/drawing/2014/main" val="3557413650"/>
                    </a:ext>
                  </a:extLst>
                </a:gridCol>
                <a:gridCol w="1996786">
                  <a:extLst>
                    <a:ext uri="{9D8B030D-6E8A-4147-A177-3AD203B41FA5}">
                      <a16:colId xmlns:a16="http://schemas.microsoft.com/office/drawing/2014/main" val="2788136828"/>
                    </a:ext>
                  </a:extLst>
                </a:gridCol>
                <a:gridCol w="1996786">
                  <a:extLst>
                    <a:ext uri="{9D8B030D-6E8A-4147-A177-3AD203B41FA5}">
                      <a16:colId xmlns:a16="http://schemas.microsoft.com/office/drawing/2014/main" val="764522203"/>
                    </a:ext>
                  </a:extLst>
                </a:gridCol>
              </a:tblGrid>
              <a:tr h="534012">
                <a:tc>
                  <a:txBody>
                    <a:bodyPr/>
                    <a:lstStyle/>
                    <a:p>
                      <a:r>
                        <a:rPr lang="en-IN" sz="2400" dirty="0"/>
                        <a:t>Data Type</a:t>
                      </a:r>
                      <a:endParaRPr lang="en-IN" sz="2400" b="1" dirty="0"/>
                    </a:p>
                  </a:txBody>
                  <a:tcPr anchor="ctr"/>
                </a:tc>
                <a:tc>
                  <a:txBody>
                    <a:bodyPr/>
                    <a:lstStyle/>
                    <a:p>
                      <a:r>
                        <a:rPr lang="en-IN" sz="2400" dirty="0"/>
                        <a:t>Description</a:t>
                      </a:r>
                      <a:endParaRPr lang="en-IN" sz="2400" b="1" dirty="0"/>
                    </a:p>
                  </a:txBody>
                  <a:tcPr anchor="ctr"/>
                </a:tc>
                <a:tc>
                  <a:txBody>
                    <a:bodyPr/>
                    <a:lstStyle/>
                    <a:p>
                      <a:r>
                        <a:rPr lang="en-IN" sz="2400" dirty="0"/>
                        <a:t>Max Length</a:t>
                      </a:r>
                      <a:endParaRPr lang="en-IN" sz="2400" b="1" dirty="0"/>
                    </a:p>
                  </a:txBody>
                  <a:tcPr anchor="ctr"/>
                </a:tc>
                <a:tc>
                  <a:txBody>
                    <a:bodyPr/>
                    <a:lstStyle/>
                    <a:p>
                      <a:r>
                        <a:rPr lang="en-IN" sz="2400" dirty="0"/>
                        <a:t>Example</a:t>
                      </a:r>
                      <a:endParaRPr lang="en-IN" sz="2400" b="1" dirty="0"/>
                    </a:p>
                  </a:txBody>
                  <a:tcPr anchor="ctr"/>
                </a:tc>
                <a:extLst>
                  <a:ext uri="{0D108BD9-81ED-4DB2-BD59-A6C34878D82A}">
                    <a16:rowId xmlns:a16="http://schemas.microsoft.com/office/drawing/2014/main" val="456654958"/>
                  </a:ext>
                </a:extLst>
              </a:tr>
              <a:tr h="427210">
                <a:tc>
                  <a:txBody>
                    <a:bodyPr/>
                    <a:lstStyle/>
                    <a:p>
                      <a:r>
                        <a:rPr lang="en-IN" dirty="0"/>
                        <a:t>CHAR(n)</a:t>
                      </a:r>
                    </a:p>
                  </a:txBody>
                  <a:tcPr anchor="ctr"/>
                </a:tc>
                <a:tc>
                  <a:txBody>
                    <a:bodyPr/>
                    <a:lstStyle/>
                    <a:p>
                      <a:r>
                        <a:rPr lang="en-IN" dirty="0"/>
                        <a:t>Fixed length text</a:t>
                      </a:r>
                    </a:p>
                  </a:txBody>
                  <a:tcPr anchor="ctr"/>
                </a:tc>
                <a:tc>
                  <a:txBody>
                    <a:bodyPr/>
                    <a:lstStyle/>
                    <a:p>
                      <a:r>
                        <a:rPr lang="en-IN" dirty="0"/>
                        <a:t>Up to 255 chars</a:t>
                      </a:r>
                    </a:p>
                  </a:txBody>
                  <a:tcPr anchor="ctr"/>
                </a:tc>
                <a:tc>
                  <a:txBody>
                    <a:bodyPr/>
                    <a:lstStyle/>
                    <a:p>
                      <a:r>
                        <a:rPr lang="en-IN" dirty="0"/>
                        <a:t>'M', 'Male'</a:t>
                      </a:r>
                    </a:p>
                  </a:txBody>
                  <a:tcPr anchor="ctr"/>
                </a:tc>
                <a:extLst>
                  <a:ext uri="{0D108BD9-81ED-4DB2-BD59-A6C34878D82A}">
                    <a16:rowId xmlns:a16="http://schemas.microsoft.com/office/drawing/2014/main" val="3066517401"/>
                  </a:ext>
                </a:extLst>
              </a:tr>
              <a:tr h="1068025">
                <a:tc>
                  <a:txBody>
                    <a:bodyPr/>
                    <a:lstStyle/>
                    <a:p>
                      <a:r>
                        <a:rPr lang="en-IN" dirty="0"/>
                        <a:t>VARCHAR(n)</a:t>
                      </a:r>
                    </a:p>
                  </a:txBody>
                  <a:tcPr anchor="ctr"/>
                </a:tc>
                <a:tc>
                  <a:txBody>
                    <a:bodyPr/>
                    <a:lstStyle/>
                    <a:p>
                      <a:r>
                        <a:rPr lang="en-US" dirty="0"/>
                        <a:t>Variable length text (most commonly used)</a:t>
                      </a:r>
                    </a:p>
                  </a:txBody>
                  <a:tcPr anchor="ctr"/>
                </a:tc>
                <a:tc>
                  <a:txBody>
                    <a:bodyPr/>
                    <a:lstStyle/>
                    <a:p>
                      <a:r>
                        <a:rPr lang="en-IN" dirty="0"/>
                        <a:t>Up to 65,535 chars</a:t>
                      </a:r>
                    </a:p>
                  </a:txBody>
                  <a:tcPr anchor="ctr"/>
                </a:tc>
                <a:tc>
                  <a:txBody>
                    <a:bodyPr/>
                    <a:lstStyle/>
                    <a:p>
                      <a:r>
                        <a:rPr lang="en-IN" dirty="0"/>
                        <a:t>'Amit Sharma', 'Delhi'</a:t>
                      </a:r>
                    </a:p>
                  </a:txBody>
                  <a:tcPr anchor="ctr"/>
                </a:tc>
                <a:extLst>
                  <a:ext uri="{0D108BD9-81ED-4DB2-BD59-A6C34878D82A}">
                    <a16:rowId xmlns:a16="http://schemas.microsoft.com/office/drawing/2014/main" val="2149915548"/>
                  </a:ext>
                </a:extLst>
              </a:tr>
              <a:tr h="1068025">
                <a:tc>
                  <a:txBody>
                    <a:bodyPr/>
                    <a:lstStyle/>
                    <a:p>
                      <a:r>
                        <a:rPr lang="en-IN" dirty="0"/>
                        <a:t>TEXT</a:t>
                      </a:r>
                    </a:p>
                  </a:txBody>
                  <a:tcPr anchor="ctr"/>
                </a:tc>
                <a:tc>
                  <a:txBody>
                    <a:bodyPr/>
                    <a:lstStyle/>
                    <a:p>
                      <a:r>
                        <a:rPr lang="en-IN" dirty="0"/>
                        <a:t>Large text (long descriptions)</a:t>
                      </a:r>
                    </a:p>
                  </a:txBody>
                  <a:tcPr anchor="ctr"/>
                </a:tc>
                <a:tc>
                  <a:txBody>
                    <a:bodyPr/>
                    <a:lstStyle/>
                    <a:p>
                      <a:r>
                        <a:rPr lang="en-IN" dirty="0"/>
                        <a:t>Very large</a:t>
                      </a:r>
                    </a:p>
                  </a:txBody>
                  <a:tcPr anchor="ctr"/>
                </a:tc>
                <a:tc>
                  <a:txBody>
                    <a:bodyPr/>
                    <a:lstStyle/>
                    <a:p>
                      <a:r>
                        <a:rPr lang="en-IN" dirty="0"/>
                        <a:t>Product description, comments</a:t>
                      </a:r>
                    </a:p>
                  </a:txBody>
                  <a:tcPr anchor="ctr"/>
                </a:tc>
                <a:extLst>
                  <a:ext uri="{0D108BD9-81ED-4DB2-BD59-A6C34878D82A}">
                    <a16:rowId xmlns:a16="http://schemas.microsoft.com/office/drawing/2014/main" val="1925160124"/>
                  </a:ext>
                </a:extLst>
              </a:tr>
            </a:tbl>
          </a:graphicData>
        </a:graphic>
      </p:graphicFrame>
      <p:sp>
        <p:nvSpPr>
          <p:cNvPr id="3" name="Rectangle 2"/>
          <p:cNvSpPr/>
          <p:nvPr/>
        </p:nvSpPr>
        <p:spPr>
          <a:xfrm>
            <a:off x="685800" y="1346261"/>
            <a:ext cx="4029207" cy="461665"/>
          </a:xfrm>
          <a:prstGeom prst="rect">
            <a:avLst/>
          </a:prstGeom>
        </p:spPr>
        <p:txBody>
          <a:bodyPr wrap="square">
            <a:spAutoFit/>
          </a:bodyPr>
          <a:lstStyle/>
          <a:p>
            <a:r>
              <a:rPr lang="en-IN" sz="2400" b="1" dirty="0"/>
              <a:t>2. String / Text Data Types</a:t>
            </a:r>
            <a:endParaRPr lang="en-IN" sz="2400" b="1" dirty="0">
              <a:effectLst/>
            </a:endParaRPr>
          </a:p>
        </p:txBody>
      </p:sp>
    </p:spTree>
    <p:extLst>
      <p:ext uri="{BB962C8B-B14F-4D97-AF65-F5344CB8AC3E}">
        <p14:creationId xmlns:p14="http://schemas.microsoft.com/office/powerpoint/2010/main" val="4063127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672309726"/>
              </p:ext>
            </p:extLst>
          </p:nvPr>
        </p:nvGraphicFramePr>
        <p:xfrm>
          <a:off x="671946" y="2048307"/>
          <a:ext cx="7772400" cy="3925113"/>
        </p:xfrm>
        <a:graphic>
          <a:graphicData uri="http://schemas.openxmlformats.org/drawingml/2006/table">
            <a:tbl>
              <a:tblPr>
                <a:tableStyleId>{D7AC3CCA-C797-4891-BE02-D94E43425B78}</a:tableStyleId>
              </a:tblPr>
              <a:tblGrid>
                <a:gridCol w="2590800">
                  <a:extLst>
                    <a:ext uri="{9D8B030D-6E8A-4147-A177-3AD203B41FA5}">
                      <a16:colId xmlns:a16="http://schemas.microsoft.com/office/drawing/2014/main" val="1354956874"/>
                    </a:ext>
                  </a:extLst>
                </a:gridCol>
                <a:gridCol w="2590800">
                  <a:extLst>
                    <a:ext uri="{9D8B030D-6E8A-4147-A177-3AD203B41FA5}">
                      <a16:colId xmlns:a16="http://schemas.microsoft.com/office/drawing/2014/main" val="2991527988"/>
                    </a:ext>
                  </a:extLst>
                </a:gridCol>
                <a:gridCol w="2590800">
                  <a:extLst>
                    <a:ext uri="{9D8B030D-6E8A-4147-A177-3AD203B41FA5}">
                      <a16:colId xmlns:a16="http://schemas.microsoft.com/office/drawing/2014/main" val="2444236282"/>
                    </a:ext>
                  </a:extLst>
                </a:gridCol>
              </a:tblGrid>
              <a:tr h="961801">
                <a:tc>
                  <a:txBody>
                    <a:bodyPr/>
                    <a:lstStyle/>
                    <a:p>
                      <a:r>
                        <a:rPr lang="en-IN" sz="2000" dirty="0"/>
                        <a:t>Data Type</a:t>
                      </a:r>
                      <a:endParaRPr lang="en-IN" sz="2000" b="1" dirty="0"/>
                    </a:p>
                  </a:txBody>
                  <a:tcPr anchor="ctr"/>
                </a:tc>
                <a:tc>
                  <a:txBody>
                    <a:bodyPr/>
                    <a:lstStyle/>
                    <a:p>
                      <a:r>
                        <a:rPr lang="en-IN" sz="2000" dirty="0"/>
                        <a:t>Description</a:t>
                      </a:r>
                      <a:endParaRPr lang="en-IN" sz="2000" b="1" dirty="0"/>
                    </a:p>
                  </a:txBody>
                  <a:tcPr anchor="ctr"/>
                </a:tc>
                <a:tc>
                  <a:txBody>
                    <a:bodyPr/>
                    <a:lstStyle/>
                    <a:p>
                      <a:r>
                        <a:rPr lang="en-IN" sz="2000" dirty="0"/>
                        <a:t>Example Value</a:t>
                      </a:r>
                      <a:endParaRPr lang="en-IN" sz="2000" b="1" dirty="0"/>
                    </a:p>
                  </a:txBody>
                  <a:tcPr anchor="ctr"/>
                </a:tc>
                <a:extLst>
                  <a:ext uri="{0D108BD9-81ED-4DB2-BD59-A6C34878D82A}">
                    <a16:rowId xmlns:a16="http://schemas.microsoft.com/office/drawing/2014/main" val="2624300040"/>
                  </a:ext>
                </a:extLst>
              </a:tr>
              <a:tr h="625171">
                <a:tc>
                  <a:txBody>
                    <a:bodyPr/>
                    <a:lstStyle/>
                    <a:p>
                      <a:r>
                        <a:rPr lang="en-IN" dirty="0"/>
                        <a:t>DATE</a:t>
                      </a:r>
                    </a:p>
                  </a:txBody>
                  <a:tcPr anchor="ctr"/>
                </a:tc>
                <a:tc>
                  <a:txBody>
                    <a:bodyPr/>
                    <a:lstStyle/>
                    <a:p>
                      <a:r>
                        <a:rPr lang="en-IN" dirty="0"/>
                        <a:t>Only Date (Year-Month-Day)</a:t>
                      </a:r>
                    </a:p>
                  </a:txBody>
                  <a:tcPr anchor="ctr"/>
                </a:tc>
                <a:tc>
                  <a:txBody>
                    <a:bodyPr/>
                    <a:lstStyle/>
                    <a:p>
                      <a:r>
                        <a:rPr lang="en-IN" dirty="0"/>
                        <a:t>'2026-04-04'</a:t>
                      </a:r>
                    </a:p>
                  </a:txBody>
                  <a:tcPr anchor="ctr"/>
                </a:tc>
                <a:extLst>
                  <a:ext uri="{0D108BD9-81ED-4DB2-BD59-A6C34878D82A}">
                    <a16:rowId xmlns:a16="http://schemas.microsoft.com/office/drawing/2014/main" val="1324170899"/>
                  </a:ext>
                </a:extLst>
              </a:tr>
              <a:tr h="1057981">
                <a:tc>
                  <a:txBody>
                    <a:bodyPr/>
                    <a:lstStyle/>
                    <a:p>
                      <a:r>
                        <a:rPr lang="en-IN" dirty="0"/>
                        <a:t>TIME</a:t>
                      </a:r>
                    </a:p>
                  </a:txBody>
                  <a:tcPr anchor="ctr"/>
                </a:tc>
                <a:tc>
                  <a:txBody>
                    <a:bodyPr/>
                    <a:lstStyle/>
                    <a:p>
                      <a:r>
                        <a:rPr lang="en-IN" dirty="0"/>
                        <a:t>Only Time (Hours:Minutes:Seconds)</a:t>
                      </a:r>
                    </a:p>
                  </a:txBody>
                  <a:tcPr anchor="ctr"/>
                </a:tc>
                <a:tc>
                  <a:txBody>
                    <a:bodyPr/>
                    <a:lstStyle/>
                    <a:p>
                      <a:r>
                        <a:rPr lang="en-IN" dirty="0"/>
                        <a:t>'14:30:25'</a:t>
                      </a:r>
                    </a:p>
                  </a:txBody>
                  <a:tcPr anchor="ctr"/>
                </a:tc>
                <a:extLst>
                  <a:ext uri="{0D108BD9-81ED-4DB2-BD59-A6C34878D82A}">
                    <a16:rowId xmlns:a16="http://schemas.microsoft.com/office/drawing/2014/main" val="3332023639"/>
                  </a:ext>
                </a:extLst>
              </a:tr>
              <a:tr h="625171">
                <a:tc>
                  <a:txBody>
                    <a:bodyPr/>
                    <a:lstStyle/>
                    <a:p>
                      <a:r>
                        <a:rPr lang="en-IN" dirty="0"/>
                        <a:t>DATETIME</a:t>
                      </a:r>
                    </a:p>
                  </a:txBody>
                  <a:tcPr anchor="ctr"/>
                </a:tc>
                <a:tc>
                  <a:txBody>
                    <a:bodyPr/>
                    <a:lstStyle/>
                    <a:p>
                      <a:r>
                        <a:rPr lang="en-IN" dirty="0"/>
                        <a:t>Date + Time</a:t>
                      </a:r>
                    </a:p>
                  </a:txBody>
                  <a:tcPr anchor="ctr"/>
                </a:tc>
                <a:tc>
                  <a:txBody>
                    <a:bodyPr/>
                    <a:lstStyle/>
                    <a:p>
                      <a:r>
                        <a:rPr lang="en-IN" dirty="0"/>
                        <a:t>'2026-04-04 15:45:30'</a:t>
                      </a:r>
                    </a:p>
                  </a:txBody>
                  <a:tcPr anchor="ctr"/>
                </a:tc>
                <a:extLst>
                  <a:ext uri="{0D108BD9-81ED-4DB2-BD59-A6C34878D82A}">
                    <a16:rowId xmlns:a16="http://schemas.microsoft.com/office/drawing/2014/main" val="286138674"/>
                  </a:ext>
                </a:extLst>
              </a:tr>
              <a:tr h="625171">
                <a:tc>
                  <a:txBody>
                    <a:bodyPr/>
                    <a:lstStyle/>
                    <a:p>
                      <a:r>
                        <a:rPr lang="en-IN" dirty="0"/>
                        <a:t>TIMESTAMP</a:t>
                      </a:r>
                    </a:p>
                  </a:txBody>
                  <a:tcPr anchor="ctr"/>
                </a:tc>
                <a:tc>
                  <a:txBody>
                    <a:bodyPr/>
                    <a:lstStyle/>
                    <a:p>
                      <a:r>
                        <a:rPr lang="en-IN" dirty="0"/>
                        <a:t>Date + Time (auto-updates)</a:t>
                      </a:r>
                    </a:p>
                  </a:txBody>
                  <a:tcPr anchor="ctr"/>
                </a:tc>
                <a:tc>
                  <a:txBody>
                    <a:bodyPr/>
                    <a:lstStyle/>
                    <a:p>
                      <a:r>
                        <a:rPr lang="en-IN" dirty="0"/>
                        <a:t>'2026-04-04 15:45:30'</a:t>
                      </a:r>
                    </a:p>
                  </a:txBody>
                  <a:tcPr anchor="ctr"/>
                </a:tc>
                <a:extLst>
                  <a:ext uri="{0D108BD9-81ED-4DB2-BD59-A6C34878D82A}">
                    <a16:rowId xmlns:a16="http://schemas.microsoft.com/office/drawing/2014/main" val="564531976"/>
                  </a:ext>
                </a:extLst>
              </a:tr>
            </a:tbl>
          </a:graphicData>
        </a:graphic>
      </p:graphicFrame>
      <p:sp>
        <p:nvSpPr>
          <p:cNvPr id="3" name="Rectangle 2"/>
          <p:cNvSpPr/>
          <p:nvPr/>
        </p:nvSpPr>
        <p:spPr>
          <a:xfrm>
            <a:off x="671946" y="1360116"/>
            <a:ext cx="3879780" cy="461665"/>
          </a:xfrm>
          <a:prstGeom prst="rect">
            <a:avLst/>
          </a:prstGeom>
        </p:spPr>
        <p:txBody>
          <a:bodyPr wrap="none">
            <a:spAutoFit/>
          </a:bodyPr>
          <a:lstStyle/>
          <a:p>
            <a:r>
              <a:rPr lang="en-US" sz="2400" b="1" dirty="0"/>
              <a:t>3. Date and Time Data Types</a:t>
            </a:r>
            <a:endParaRPr lang="en-US" sz="2400" b="1" dirty="0">
              <a:effectLst/>
            </a:endParaRPr>
          </a:p>
        </p:txBody>
      </p:sp>
    </p:spTree>
    <p:extLst>
      <p:ext uri="{BB962C8B-B14F-4D97-AF65-F5344CB8AC3E}">
        <p14:creationId xmlns:p14="http://schemas.microsoft.com/office/powerpoint/2010/main" val="3479977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25964757"/>
              </p:ext>
            </p:extLst>
          </p:nvPr>
        </p:nvGraphicFramePr>
        <p:xfrm>
          <a:off x="838200" y="2230884"/>
          <a:ext cx="7626927" cy="1897770"/>
        </p:xfrm>
        <a:graphic>
          <a:graphicData uri="http://schemas.openxmlformats.org/drawingml/2006/table">
            <a:tbl>
              <a:tblPr>
                <a:tableStyleId>{D7AC3CCA-C797-4891-BE02-D94E43425B78}</a:tableStyleId>
              </a:tblPr>
              <a:tblGrid>
                <a:gridCol w="2542309">
                  <a:extLst>
                    <a:ext uri="{9D8B030D-6E8A-4147-A177-3AD203B41FA5}">
                      <a16:colId xmlns:a16="http://schemas.microsoft.com/office/drawing/2014/main" val="857537736"/>
                    </a:ext>
                  </a:extLst>
                </a:gridCol>
                <a:gridCol w="2542309">
                  <a:extLst>
                    <a:ext uri="{9D8B030D-6E8A-4147-A177-3AD203B41FA5}">
                      <a16:colId xmlns:a16="http://schemas.microsoft.com/office/drawing/2014/main" val="206423826"/>
                    </a:ext>
                  </a:extLst>
                </a:gridCol>
                <a:gridCol w="2542309">
                  <a:extLst>
                    <a:ext uri="{9D8B030D-6E8A-4147-A177-3AD203B41FA5}">
                      <a16:colId xmlns:a16="http://schemas.microsoft.com/office/drawing/2014/main" val="1620321913"/>
                    </a:ext>
                  </a:extLst>
                </a:gridCol>
              </a:tblGrid>
              <a:tr h="948885">
                <a:tc>
                  <a:txBody>
                    <a:bodyPr/>
                    <a:lstStyle/>
                    <a:p>
                      <a:r>
                        <a:rPr lang="en-IN" sz="2400" dirty="0"/>
                        <a:t>Data Type</a:t>
                      </a:r>
                      <a:endParaRPr lang="en-IN" sz="2400" b="1" dirty="0"/>
                    </a:p>
                  </a:txBody>
                  <a:tcPr anchor="ctr"/>
                </a:tc>
                <a:tc>
                  <a:txBody>
                    <a:bodyPr/>
                    <a:lstStyle/>
                    <a:p>
                      <a:r>
                        <a:rPr lang="en-IN" sz="2400" dirty="0"/>
                        <a:t>Description</a:t>
                      </a:r>
                      <a:endParaRPr lang="en-IN" sz="2400" b="1" dirty="0"/>
                    </a:p>
                  </a:txBody>
                  <a:tcPr anchor="ctr"/>
                </a:tc>
                <a:tc>
                  <a:txBody>
                    <a:bodyPr/>
                    <a:lstStyle/>
                    <a:p>
                      <a:r>
                        <a:rPr lang="en-IN" sz="2400" dirty="0"/>
                        <a:t>Possible Values</a:t>
                      </a:r>
                      <a:endParaRPr lang="en-IN" sz="2400" b="1" dirty="0"/>
                    </a:p>
                  </a:txBody>
                  <a:tcPr anchor="ctr"/>
                </a:tc>
                <a:extLst>
                  <a:ext uri="{0D108BD9-81ED-4DB2-BD59-A6C34878D82A}">
                    <a16:rowId xmlns:a16="http://schemas.microsoft.com/office/drawing/2014/main" val="3647648502"/>
                  </a:ext>
                </a:extLst>
              </a:tr>
              <a:tr h="948885">
                <a:tc>
                  <a:txBody>
                    <a:bodyPr/>
                    <a:lstStyle/>
                    <a:p>
                      <a:r>
                        <a:rPr lang="en-IN" dirty="0"/>
                        <a:t>BOOLEAN</a:t>
                      </a:r>
                    </a:p>
                  </a:txBody>
                  <a:tcPr anchor="ctr"/>
                </a:tc>
                <a:tc>
                  <a:txBody>
                    <a:bodyPr/>
                    <a:lstStyle/>
                    <a:p>
                      <a:r>
                        <a:rPr lang="en-IN" dirty="0"/>
                        <a:t>True or False</a:t>
                      </a:r>
                    </a:p>
                  </a:txBody>
                  <a:tcPr anchor="ctr"/>
                </a:tc>
                <a:tc>
                  <a:txBody>
                    <a:bodyPr/>
                    <a:lstStyle/>
                    <a:p>
                      <a:r>
                        <a:rPr lang="en-IN" dirty="0"/>
                        <a:t>TRUE, FALSE, 1, 0</a:t>
                      </a:r>
                    </a:p>
                  </a:txBody>
                  <a:tcPr anchor="ctr"/>
                </a:tc>
                <a:extLst>
                  <a:ext uri="{0D108BD9-81ED-4DB2-BD59-A6C34878D82A}">
                    <a16:rowId xmlns:a16="http://schemas.microsoft.com/office/drawing/2014/main" val="63913062"/>
                  </a:ext>
                </a:extLst>
              </a:tr>
            </a:tbl>
          </a:graphicData>
        </a:graphic>
      </p:graphicFrame>
      <p:sp>
        <p:nvSpPr>
          <p:cNvPr id="3" name="Rectangle 2"/>
          <p:cNvSpPr/>
          <p:nvPr/>
        </p:nvSpPr>
        <p:spPr>
          <a:xfrm>
            <a:off x="838200" y="1429389"/>
            <a:ext cx="4287982" cy="461665"/>
          </a:xfrm>
          <a:prstGeom prst="rect">
            <a:avLst/>
          </a:prstGeom>
        </p:spPr>
        <p:txBody>
          <a:bodyPr wrap="square">
            <a:spAutoFit/>
          </a:bodyPr>
          <a:lstStyle/>
          <a:p>
            <a:r>
              <a:rPr lang="en-IN" sz="2400" b="1" dirty="0"/>
              <a:t>4. Boolean Data Type</a:t>
            </a:r>
            <a:endParaRPr lang="en-IN" sz="2400" b="1" dirty="0">
              <a:effectLst/>
            </a:endParaRPr>
          </a:p>
        </p:txBody>
      </p:sp>
    </p:spTree>
    <p:extLst>
      <p:ext uri="{BB962C8B-B14F-4D97-AF65-F5344CB8AC3E}">
        <p14:creationId xmlns:p14="http://schemas.microsoft.com/office/powerpoint/2010/main" val="418143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3563" y="1730184"/>
            <a:ext cx="7841673" cy="3508653"/>
          </a:xfrm>
          <a:prstGeom prst="rect">
            <a:avLst/>
          </a:prstGeom>
        </p:spPr>
        <p:txBody>
          <a:bodyPr wrap="square">
            <a:spAutoFit/>
          </a:bodyPr>
          <a:lstStyle/>
          <a:p>
            <a:pPr>
              <a:lnSpc>
                <a:spcPct val="150000"/>
              </a:lnSpc>
            </a:pPr>
            <a:r>
              <a:rPr lang="en-US" sz="2800" b="1" dirty="0"/>
              <a:t>SQL Constraints </a:t>
            </a:r>
            <a:r>
              <a:rPr lang="en-US" sz="2800" b="1" dirty="0" smtClean="0"/>
              <a:t>:</a:t>
            </a:r>
            <a:r>
              <a:rPr lang="en-US" sz="2400" b="1" dirty="0"/>
              <a:t/>
            </a:r>
            <a:br>
              <a:rPr lang="en-US" sz="2400" b="1" dirty="0"/>
            </a:br>
            <a:r>
              <a:rPr lang="en-US" sz="2400" dirty="0"/>
              <a:t>SQL constraints are rules applied to table columns to ensure data accuracy, consistency, and integrity. They restrict invalid data entry and enforce relationships between tables. Constraints can be added during table creation (CREATE TABLE) or later using ALTER TABLE.</a:t>
            </a:r>
            <a:endParaRPr lang="en-IN" sz="2400" dirty="0"/>
          </a:p>
        </p:txBody>
      </p:sp>
    </p:spTree>
    <p:extLst>
      <p:ext uri="{BB962C8B-B14F-4D97-AF65-F5344CB8AC3E}">
        <p14:creationId xmlns:p14="http://schemas.microsoft.com/office/powerpoint/2010/main" val="3093961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45127" y="1041692"/>
            <a:ext cx="8007927" cy="5324535"/>
          </a:xfrm>
          <a:prstGeom prst="rect">
            <a:avLst/>
          </a:prstGeom>
        </p:spPr>
        <p:txBody>
          <a:bodyPr wrap="square">
            <a:spAutoFit/>
          </a:bodyPr>
          <a:lstStyle/>
          <a:p>
            <a:pPr algn="just"/>
            <a:r>
              <a:rPr lang="en-US" sz="2800" b="1" dirty="0"/>
              <a:t>SQL constraints</a:t>
            </a:r>
            <a:endParaRPr lang="en-US" sz="2800" b="1" dirty="0" smtClean="0"/>
          </a:p>
          <a:p>
            <a:pPr algn="just"/>
            <a:r>
              <a:rPr lang="en-US" sz="2400" dirty="0" smtClean="0"/>
              <a:t>SQL </a:t>
            </a:r>
            <a:r>
              <a:rPr lang="en-US" sz="2400" dirty="0"/>
              <a:t>constraints are rules enforced by the database management system (DBMS) on table columns or entire tables. They ensure data integrity, accuracy, consistency, and reliability by limiting the types of data that can be inserted, updated, or deleted</a:t>
            </a:r>
            <a:r>
              <a:rPr lang="en-US" sz="2400" dirty="0" smtClean="0"/>
              <a:t>.</a:t>
            </a:r>
          </a:p>
          <a:p>
            <a:pPr marL="457200" indent="-457200" algn="just">
              <a:buFont typeface="+mj-lt"/>
              <a:buAutoNum type="arabicPeriod"/>
            </a:pPr>
            <a:r>
              <a:rPr lang="en-IN" sz="2400" dirty="0"/>
              <a:t>NOT NULL</a:t>
            </a:r>
          </a:p>
          <a:p>
            <a:pPr marL="457200" indent="-457200" algn="just">
              <a:buFont typeface="+mj-lt"/>
              <a:buAutoNum type="arabicPeriod"/>
            </a:pPr>
            <a:r>
              <a:rPr lang="en-IN" sz="2400" dirty="0"/>
              <a:t>UNIQUE</a:t>
            </a:r>
          </a:p>
          <a:p>
            <a:pPr marL="457200" indent="-457200" algn="just">
              <a:buFont typeface="+mj-lt"/>
              <a:buAutoNum type="arabicPeriod"/>
            </a:pPr>
            <a:r>
              <a:rPr lang="en-IN" sz="2400" dirty="0"/>
              <a:t>PRIMARY KEY</a:t>
            </a:r>
          </a:p>
          <a:p>
            <a:pPr marL="457200" indent="-457200" algn="just">
              <a:buFont typeface="+mj-lt"/>
              <a:buAutoNum type="arabicPeriod"/>
            </a:pPr>
            <a:r>
              <a:rPr lang="en-IN" sz="2400" dirty="0"/>
              <a:t>FOREIGN KEY</a:t>
            </a:r>
          </a:p>
          <a:p>
            <a:pPr marL="457200" indent="-457200" algn="just">
              <a:buFont typeface="+mj-lt"/>
              <a:buAutoNum type="arabicPeriod"/>
            </a:pPr>
            <a:r>
              <a:rPr lang="en-IN" sz="2400" dirty="0"/>
              <a:t>CHECK</a:t>
            </a:r>
          </a:p>
          <a:p>
            <a:pPr marL="457200" indent="-457200" algn="just">
              <a:buFont typeface="+mj-lt"/>
              <a:buAutoNum type="arabicPeriod"/>
            </a:pPr>
            <a:r>
              <a:rPr lang="en-IN" sz="2400" dirty="0"/>
              <a:t>DEFAULT</a:t>
            </a:r>
          </a:p>
          <a:p>
            <a:pPr marL="457200" indent="-457200" algn="just">
              <a:buFont typeface="+mj-lt"/>
              <a:buAutoNum type="arabicPeriod"/>
            </a:pPr>
            <a:r>
              <a:rPr lang="en-IN" sz="2400" dirty="0"/>
              <a:t>INDEX</a:t>
            </a:r>
          </a:p>
          <a:p>
            <a:pPr algn="just"/>
            <a:endParaRPr lang="en-US" sz="2400" dirty="0">
              <a:effectLst/>
            </a:endParaRPr>
          </a:p>
        </p:txBody>
      </p:sp>
    </p:spTree>
    <p:extLst>
      <p:ext uri="{BB962C8B-B14F-4D97-AF65-F5344CB8AC3E}">
        <p14:creationId xmlns:p14="http://schemas.microsoft.com/office/powerpoint/2010/main" val="41875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9092" y="1549116"/>
            <a:ext cx="7398326" cy="4093428"/>
          </a:xfrm>
          <a:prstGeom prst="rect">
            <a:avLst/>
          </a:prstGeom>
        </p:spPr>
        <p:txBody>
          <a:bodyPr wrap="square">
            <a:spAutoFit/>
          </a:bodyPr>
          <a:lstStyle/>
          <a:p>
            <a:pPr algn="just"/>
            <a:r>
              <a:rPr lang="en-US" sz="2400" dirty="0" smtClean="0"/>
              <a:t>1)NOT </a:t>
            </a:r>
            <a:r>
              <a:rPr lang="en-US" sz="2400" dirty="0"/>
              <a:t>NULL Ensures a column cannot contain NULL values. Every row must have a value in that column. Syntax (column-level</a:t>
            </a:r>
            <a:r>
              <a:rPr lang="en-US" sz="2400" dirty="0" smtClean="0"/>
              <a:t>):</a:t>
            </a:r>
          </a:p>
          <a:p>
            <a:pPr algn="just"/>
            <a:endParaRPr lang="en-US" sz="2400" b="1" dirty="0" smtClean="0"/>
          </a:p>
          <a:p>
            <a:pPr algn="just"/>
            <a:r>
              <a:rPr lang="en-IN" sz="2400" b="1" dirty="0"/>
              <a:t>Syntax:</a:t>
            </a:r>
          </a:p>
          <a:p>
            <a:pPr algn="just"/>
            <a:endParaRPr lang="en-US" sz="2400" b="1" dirty="0"/>
          </a:p>
          <a:p>
            <a:pPr algn="just"/>
            <a:r>
              <a:rPr lang="en-US" sz="2400" b="1" dirty="0" smtClean="0"/>
              <a:t>CREATE </a:t>
            </a:r>
            <a:r>
              <a:rPr lang="en-US" sz="2400" b="1" dirty="0"/>
              <a:t>TABLE employees (</a:t>
            </a:r>
          </a:p>
          <a:p>
            <a:pPr algn="just"/>
            <a:r>
              <a:rPr lang="en-US" sz="2400" b="1" dirty="0"/>
              <a:t>    employee_id INT NOT NULL,</a:t>
            </a:r>
          </a:p>
          <a:p>
            <a:pPr algn="just"/>
            <a:r>
              <a:rPr lang="en-US" sz="2400" b="1" dirty="0"/>
              <a:t>    name VARCHAR(100) NOT NULL</a:t>
            </a:r>
          </a:p>
          <a:p>
            <a:pPr algn="just"/>
            <a:r>
              <a:rPr lang="en-US" sz="2400" b="1" dirty="0" smtClean="0"/>
              <a:t>);</a:t>
            </a:r>
          </a:p>
          <a:p>
            <a:endParaRPr lang="en-US" sz="2000" b="1" dirty="0">
              <a:effectLst/>
            </a:endParaRPr>
          </a:p>
        </p:txBody>
      </p:sp>
    </p:spTree>
    <p:extLst>
      <p:ext uri="{BB962C8B-B14F-4D97-AF65-F5344CB8AC3E}">
        <p14:creationId xmlns:p14="http://schemas.microsoft.com/office/powerpoint/2010/main" val="26335694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2108" y="1683750"/>
            <a:ext cx="7398328" cy="3908762"/>
          </a:xfrm>
          <a:prstGeom prst="rect">
            <a:avLst/>
          </a:prstGeom>
        </p:spPr>
        <p:txBody>
          <a:bodyPr wrap="square">
            <a:spAutoFit/>
          </a:bodyPr>
          <a:lstStyle/>
          <a:p>
            <a:pPr algn="just"/>
            <a:r>
              <a:rPr lang="en-US" sz="2400" b="1" dirty="0"/>
              <a:t>2) </a:t>
            </a:r>
            <a:r>
              <a:rPr lang="en-US" sz="2400" dirty="0"/>
              <a:t>UNIQUE Ensures all values in a column (or combination of columns) are distinct. Multiple UNIQUE constraints are allowed per table. It allows one NULL value in most DBMS (like MySQL, PostgreSQL, SQL Server), but not duplicates</a:t>
            </a:r>
            <a:r>
              <a:rPr lang="en-US" sz="2400" dirty="0" smtClean="0"/>
              <a:t>.</a:t>
            </a:r>
          </a:p>
          <a:p>
            <a:pPr algn="just"/>
            <a:endParaRPr lang="en-US" sz="1600" dirty="0"/>
          </a:p>
          <a:p>
            <a:pPr algn="just"/>
            <a:r>
              <a:rPr lang="en-IN" sz="2400" b="1" dirty="0"/>
              <a:t>Syntax:</a:t>
            </a:r>
          </a:p>
          <a:p>
            <a:pPr algn="just"/>
            <a:endParaRPr lang="en-US" sz="1600" dirty="0"/>
          </a:p>
          <a:p>
            <a:pPr algn="just"/>
            <a:r>
              <a:rPr lang="en-US" sz="2400" b="1" dirty="0"/>
              <a:t>CREATE TABLE employees (</a:t>
            </a:r>
          </a:p>
          <a:p>
            <a:pPr algn="just"/>
            <a:r>
              <a:rPr lang="en-US" sz="2400" b="1" dirty="0"/>
              <a:t>    employee_id INT UNIQUE,</a:t>
            </a:r>
          </a:p>
          <a:p>
            <a:pPr algn="just"/>
            <a:r>
              <a:rPr lang="en-US" sz="2400" b="1" dirty="0"/>
              <a:t>    email VARCHAR(255) UNIQUE</a:t>
            </a:r>
          </a:p>
          <a:p>
            <a:pPr algn="just"/>
            <a:r>
              <a:rPr lang="en-US" sz="2400" b="1" dirty="0"/>
              <a:t>);</a:t>
            </a:r>
          </a:p>
        </p:txBody>
      </p:sp>
    </p:spTree>
    <p:extLst>
      <p:ext uri="{BB962C8B-B14F-4D97-AF65-F5344CB8AC3E}">
        <p14:creationId xmlns:p14="http://schemas.microsoft.com/office/powerpoint/2010/main" val="33054207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4509" y="1656354"/>
            <a:ext cx="7412182" cy="3785652"/>
          </a:xfrm>
          <a:prstGeom prst="rect">
            <a:avLst/>
          </a:prstGeom>
        </p:spPr>
        <p:txBody>
          <a:bodyPr wrap="square">
            <a:spAutoFit/>
          </a:bodyPr>
          <a:lstStyle/>
          <a:p>
            <a:pPr algn="just"/>
            <a:r>
              <a:rPr lang="en-US" sz="2400" dirty="0" smtClean="0"/>
              <a:t>3) PRIMARY </a:t>
            </a:r>
            <a:r>
              <a:rPr lang="en-US" sz="2400" dirty="0"/>
              <a:t>KEY Uniquely identifies each row in a table. It is a combination of NOT NULL + UNIQUE. Only one primary key per table is allowed (it can be composite, spanning multiple columns). </a:t>
            </a:r>
            <a:endParaRPr lang="en-US" sz="2400" dirty="0" smtClean="0"/>
          </a:p>
          <a:p>
            <a:pPr algn="just"/>
            <a:endParaRPr lang="en-US" sz="2400" dirty="0" smtClean="0"/>
          </a:p>
          <a:p>
            <a:pPr algn="just"/>
            <a:r>
              <a:rPr lang="en-US" sz="2400" dirty="0" smtClean="0"/>
              <a:t>Syntax:</a:t>
            </a:r>
          </a:p>
          <a:p>
            <a:pPr algn="just"/>
            <a:r>
              <a:rPr lang="en-US" sz="2400" b="1" dirty="0"/>
              <a:t>CREATE TABLE employees (</a:t>
            </a:r>
          </a:p>
          <a:p>
            <a:pPr algn="just"/>
            <a:r>
              <a:rPr lang="en-US" sz="2400" b="1" dirty="0"/>
              <a:t>    employee_id INT PRIMARY KEY,</a:t>
            </a:r>
          </a:p>
          <a:p>
            <a:pPr algn="just"/>
            <a:r>
              <a:rPr lang="en-US" sz="2400" b="1" dirty="0"/>
              <a:t>    name VARCHAR(100)</a:t>
            </a:r>
          </a:p>
          <a:p>
            <a:pPr algn="just"/>
            <a:r>
              <a:rPr lang="en-US" sz="2400" b="1" dirty="0"/>
              <a:t>);</a:t>
            </a:r>
            <a:endParaRPr lang="en-US" sz="2400" b="1" dirty="0">
              <a:effectLst/>
            </a:endParaRPr>
          </a:p>
        </p:txBody>
      </p:sp>
    </p:spTree>
    <p:extLst>
      <p:ext uri="{BB962C8B-B14F-4D97-AF65-F5344CB8AC3E}">
        <p14:creationId xmlns:p14="http://schemas.microsoft.com/office/powerpoint/2010/main" val="34689098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2109" y="1512792"/>
            <a:ext cx="7481455" cy="5262979"/>
          </a:xfrm>
          <a:prstGeom prst="rect">
            <a:avLst/>
          </a:prstGeom>
        </p:spPr>
        <p:txBody>
          <a:bodyPr wrap="square">
            <a:spAutoFit/>
          </a:bodyPr>
          <a:lstStyle/>
          <a:p>
            <a:pPr algn="just"/>
            <a:r>
              <a:rPr lang="en-US" sz="2400" dirty="0" smtClean="0"/>
              <a:t>4) FOREIGN </a:t>
            </a:r>
            <a:r>
              <a:rPr lang="en-US" sz="2400" dirty="0"/>
              <a:t>KEY Enforces referential integrity by linking a column (or columns) in one table to the PRIMARY KEY (or UNIQUE key) in another table. It prevents actions that would break the link between tables (e.g., deleting a parent record if child records exist, depending on ON DELETE rules). </a:t>
            </a:r>
            <a:endParaRPr lang="en-US" sz="2400" dirty="0" smtClean="0"/>
          </a:p>
          <a:p>
            <a:pPr algn="just"/>
            <a:r>
              <a:rPr lang="en-US" sz="2400" dirty="0" smtClean="0"/>
              <a:t>Syntax:</a:t>
            </a:r>
          </a:p>
          <a:p>
            <a:pPr algn="just"/>
            <a:r>
              <a:rPr lang="en-US" sz="2400" b="1" dirty="0"/>
              <a:t>CREATE TABLE orders (</a:t>
            </a:r>
          </a:p>
          <a:p>
            <a:pPr algn="just"/>
            <a:r>
              <a:rPr lang="en-US" sz="2400" b="1" dirty="0"/>
              <a:t>    order_id INT PRIMARY KEY,</a:t>
            </a:r>
          </a:p>
          <a:p>
            <a:pPr algn="just"/>
            <a:r>
              <a:rPr lang="en-US" sz="2400" b="1" dirty="0"/>
              <a:t>    customer_id INT,</a:t>
            </a:r>
          </a:p>
          <a:p>
            <a:pPr algn="just"/>
            <a:r>
              <a:rPr lang="en-US" sz="2400" b="1" dirty="0"/>
              <a:t>    FOREIGN KEY (customer_id) REFERENCES customers(customer_id)</a:t>
            </a:r>
          </a:p>
          <a:p>
            <a:pPr algn="just"/>
            <a:r>
              <a:rPr lang="en-US" sz="2400" b="1" dirty="0"/>
              <a:t>);</a:t>
            </a:r>
          </a:p>
          <a:p>
            <a:pPr algn="just"/>
            <a:endParaRPr lang="en-US" sz="2400" dirty="0">
              <a:effectLst/>
            </a:endParaRPr>
          </a:p>
        </p:txBody>
      </p:sp>
    </p:spTree>
    <p:extLst>
      <p:ext uri="{BB962C8B-B14F-4D97-AF65-F5344CB8AC3E}">
        <p14:creationId xmlns:p14="http://schemas.microsoft.com/office/powerpoint/2010/main" val="19201468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55965" y="1782035"/>
            <a:ext cx="7661562" cy="3693319"/>
          </a:xfrm>
          <a:prstGeom prst="rect">
            <a:avLst/>
          </a:prstGeom>
        </p:spPr>
        <p:txBody>
          <a:bodyPr wrap="square">
            <a:spAutoFit/>
          </a:bodyPr>
          <a:lstStyle/>
          <a:p>
            <a:r>
              <a:rPr lang="en-US" sz="2400" dirty="0" smtClean="0"/>
              <a:t>5) CHECK </a:t>
            </a:r>
            <a:r>
              <a:rPr lang="en-US" sz="2400" dirty="0"/>
              <a:t>Ensures values in a column satisfy a specific condition (boolean expression). </a:t>
            </a:r>
            <a:endParaRPr lang="en-US" sz="2400" dirty="0" smtClean="0"/>
          </a:p>
          <a:p>
            <a:endParaRPr lang="en-US" dirty="0"/>
          </a:p>
          <a:p>
            <a:r>
              <a:rPr lang="en-US" sz="2400" dirty="0" smtClean="0"/>
              <a:t>Syntax:</a:t>
            </a:r>
          </a:p>
          <a:p>
            <a:endParaRPr lang="en-US" sz="2400" dirty="0" smtClean="0"/>
          </a:p>
          <a:p>
            <a:r>
              <a:rPr lang="en-US" sz="2400" b="1" dirty="0"/>
              <a:t>CREATE TABLE employees (</a:t>
            </a:r>
          </a:p>
          <a:p>
            <a:r>
              <a:rPr lang="en-US" sz="2400" b="1" dirty="0"/>
              <a:t>    employee_id INT PRIMARY KEY,</a:t>
            </a:r>
          </a:p>
          <a:p>
            <a:r>
              <a:rPr lang="en-US" sz="2400" b="1" dirty="0"/>
              <a:t>    salary DECIMAL(10,2) CHECK (salary &gt; 0),</a:t>
            </a:r>
          </a:p>
          <a:p>
            <a:r>
              <a:rPr lang="en-US" sz="2400" b="1" dirty="0"/>
              <a:t>    age INT CHECK (age &gt;= 18 AND age &lt;= 65)</a:t>
            </a:r>
          </a:p>
          <a:p>
            <a:r>
              <a:rPr lang="en-US" sz="2400" b="1" dirty="0"/>
              <a:t>);</a:t>
            </a:r>
            <a:endParaRPr lang="en-US" sz="2400" b="1" dirty="0">
              <a:effectLst/>
            </a:endParaRPr>
          </a:p>
        </p:txBody>
      </p:sp>
    </p:spTree>
    <p:extLst>
      <p:ext uri="{BB962C8B-B14F-4D97-AF65-F5344CB8AC3E}">
        <p14:creationId xmlns:p14="http://schemas.microsoft.com/office/powerpoint/2010/main" val="7022105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28255" y="1692717"/>
            <a:ext cx="7190510" cy="3785652"/>
          </a:xfrm>
          <a:prstGeom prst="rect">
            <a:avLst/>
          </a:prstGeom>
        </p:spPr>
        <p:txBody>
          <a:bodyPr wrap="square">
            <a:spAutoFit/>
          </a:bodyPr>
          <a:lstStyle/>
          <a:p>
            <a:r>
              <a:rPr lang="en-US" sz="2400" dirty="0" smtClean="0"/>
              <a:t>6) DEFAULT </a:t>
            </a:r>
            <a:r>
              <a:rPr lang="en-US" sz="2400" dirty="0"/>
              <a:t>Provides a default value for a column when no value is specified during INSERT. </a:t>
            </a:r>
            <a:endParaRPr lang="en-US" sz="2400" dirty="0" smtClean="0"/>
          </a:p>
          <a:p>
            <a:endParaRPr lang="en-US" sz="2400" dirty="0"/>
          </a:p>
          <a:p>
            <a:r>
              <a:rPr lang="en-US" sz="2400" dirty="0" smtClean="0"/>
              <a:t>Syntax:</a:t>
            </a:r>
          </a:p>
          <a:p>
            <a:endParaRPr lang="en-US" sz="2400" dirty="0">
              <a:effectLst/>
            </a:endParaRPr>
          </a:p>
          <a:p>
            <a:pPr algn="just"/>
            <a:r>
              <a:rPr lang="en-US" sz="2400" b="1" dirty="0"/>
              <a:t>CREATE TABLE employees (</a:t>
            </a:r>
          </a:p>
          <a:p>
            <a:pPr algn="just"/>
            <a:r>
              <a:rPr lang="en-US" sz="2400" b="1" dirty="0"/>
              <a:t>    employee_id INT PRIMARY KEY,</a:t>
            </a:r>
          </a:p>
          <a:p>
            <a:pPr algn="just"/>
            <a:r>
              <a:rPr lang="en-US" sz="2400" b="1" dirty="0"/>
              <a:t>    status VARCHAR(20) DEFAULT 'Active',</a:t>
            </a:r>
          </a:p>
          <a:p>
            <a:pPr algn="just"/>
            <a:r>
              <a:rPr lang="en-US" sz="2400" b="1" dirty="0"/>
              <a:t>    hire_date DATE DEFAULT CURRENT_DATE</a:t>
            </a:r>
          </a:p>
          <a:p>
            <a:pPr algn="just"/>
            <a:r>
              <a:rPr lang="en-US" sz="2400" b="1" dirty="0"/>
              <a:t>);</a:t>
            </a:r>
            <a:endParaRPr lang="en-US" sz="2400" b="1" dirty="0">
              <a:effectLst/>
            </a:endParaRPr>
          </a:p>
        </p:txBody>
      </p:sp>
    </p:spTree>
    <p:extLst>
      <p:ext uri="{BB962C8B-B14F-4D97-AF65-F5344CB8AC3E}">
        <p14:creationId xmlns:p14="http://schemas.microsoft.com/office/powerpoint/2010/main" val="35590547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5344" y="2080598"/>
            <a:ext cx="7232073" cy="2677656"/>
          </a:xfrm>
          <a:prstGeom prst="rect">
            <a:avLst/>
          </a:prstGeom>
        </p:spPr>
        <p:txBody>
          <a:bodyPr wrap="square">
            <a:spAutoFit/>
          </a:bodyPr>
          <a:lstStyle/>
          <a:p>
            <a:r>
              <a:rPr lang="en-US" sz="2400" dirty="0" smtClean="0"/>
              <a:t>6) INDEX</a:t>
            </a:r>
            <a:r>
              <a:rPr lang="en-US" sz="2400" dirty="0"/>
              <a:t>: UNIQUE and PRIMARY KEY constraints automatically create indexes for fast lookups</a:t>
            </a:r>
            <a:r>
              <a:rPr lang="en-US" sz="2400" dirty="0" smtClean="0"/>
              <a:t>.</a:t>
            </a:r>
          </a:p>
          <a:p>
            <a:endParaRPr lang="en-US" sz="2400" dirty="0">
              <a:effectLst/>
            </a:endParaRPr>
          </a:p>
          <a:p>
            <a:r>
              <a:rPr lang="en-US" sz="2400" dirty="0"/>
              <a:t>Benefits: Constraints enforce rules automatically, reduce application-level validation needs, and improve data quality.</a:t>
            </a:r>
          </a:p>
          <a:p>
            <a:endParaRPr lang="en-US" sz="2400" dirty="0">
              <a:effectLst/>
            </a:endParaRPr>
          </a:p>
        </p:txBody>
      </p:sp>
    </p:spTree>
    <p:extLst>
      <p:ext uri="{BB962C8B-B14F-4D97-AF65-F5344CB8AC3E}">
        <p14:creationId xmlns:p14="http://schemas.microsoft.com/office/powerpoint/2010/main" val="16860629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6691" y="1415764"/>
            <a:ext cx="7620000" cy="4585871"/>
          </a:xfrm>
          <a:prstGeom prst="rect">
            <a:avLst/>
          </a:prstGeom>
        </p:spPr>
        <p:txBody>
          <a:bodyPr wrap="square">
            <a:spAutoFit/>
          </a:bodyPr>
          <a:lstStyle/>
          <a:p>
            <a:r>
              <a:rPr lang="en-US" sz="2800" b="1" dirty="0" smtClean="0"/>
              <a:t>SQL Comments</a:t>
            </a:r>
            <a:endParaRPr lang="en-US" sz="2800" b="1" dirty="0"/>
          </a:p>
          <a:p>
            <a:pPr algn="just"/>
            <a:r>
              <a:rPr lang="en-US" sz="2400" dirty="0"/>
              <a:t>SQL comments are explanatory notes added to your SQL code that are </a:t>
            </a:r>
            <a:r>
              <a:rPr lang="en-US" sz="2400" b="1" dirty="0"/>
              <a:t>ignored by the database engine</a:t>
            </a:r>
            <a:r>
              <a:rPr lang="en-US" sz="2400" dirty="0"/>
              <a:t> during execution. They help document your queries, making them easier to understand and maintain</a:t>
            </a:r>
            <a:r>
              <a:rPr lang="en-US" sz="2400" dirty="0" smtClean="0"/>
              <a:t>.</a:t>
            </a:r>
          </a:p>
          <a:p>
            <a:pPr algn="just"/>
            <a:endParaRPr lang="en-US" sz="2400" dirty="0">
              <a:effectLst/>
            </a:endParaRPr>
          </a:p>
          <a:p>
            <a:r>
              <a:rPr lang="en-US" sz="2400" b="1" dirty="0"/>
              <a:t>1. Single-Line Comments</a:t>
            </a:r>
          </a:p>
          <a:p>
            <a:pPr marL="342900" indent="-342900" algn="just">
              <a:buFont typeface="Arial" panose="020B0604020202020204" pitchFamily="34" charset="0"/>
              <a:buChar char="•"/>
            </a:pPr>
            <a:r>
              <a:rPr lang="en-US" sz="2400" dirty="0"/>
              <a:t>Starts with -- (two hyphens)</a:t>
            </a:r>
          </a:p>
          <a:p>
            <a:pPr marL="342900" indent="-342900" algn="just">
              <a:buFont typeface="Arial" panose="020B0604020202020204" pitchFamily="34" charset="0"/>
              <a:buChar char="•"/>
            </a:pPr>
            <a:r>
              <a:rPr lang="en-US" sz="2400" dirty="0"/>
              <a:t>Everything after -- on the same line is treated as a comment</a:t>
            </a:r>
          </a:p>
          <a:p>
            <a:pPr marL="342900" indent="-342900" algn="just">
              <a:buFont typeface="Arial" panose="020B0604020202020204" pitchFamily="34" charset="0"/>
              <a:buChar char="•"/>
            </a:pPr>
            <a:r>
              <a:rPr lang="en-US" sz="2400" dirty="0"/>
              <a:t>Most widely supported across all databases</a:t>
            </a:r>
          </a:p>
          <a:p>
            <a:pPr marL="342900" indent="-342900" algn="just">
              <a:buFont typeface="Arial" panose="020B0604020202020204" pitchFamily="34" charset="0"/>
              <a:buChar char="•"/>
            </a:pPr>
            <a:endParaRPr lang="en-US" sz="2400" dirty="0">
              <a:effectLst/>
            </a:endParaRPr>
          </a:p>
        </p:txBody>
      </p:sp>
    </p:spTree>
    <p:extLst>
      <p:ext uri="{BB962C8B-B14F-4D97-AF65-F5344CB8AC3E}">
        <p14:creationId xmlns:p14="http://schemas.microsoft.com/office/powerpoint/2010/main" val="78842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398" y="1027789"/>
            <a:ext cx="7772402" cy="5262979"/>
          </a:xfrm>
          <a:prstGeom prst="rect">
            <a:avLst/>
          </a:prstGeom>
        </p:spPr>
        <p:txBody>
          <a:bodyPr wrap="square">
            <a:spAutoFit/>
          </a:bodyPr>
          <a:lstStyle/>
          <a:p>
            <a:pPr algn="just"/>
            <a:r>
              <a:rPr lang="en-US" sz="2400" b="1" dirty="0"/>
              <a:t>2. Multi-Line Comments (Block Comments</a:t>
            </a:r>
            <a:r>
              <a:rPr lang="en-US" sz="2400" b="1" dirty="0" smtClean="0"/>
              <a:t>)</a:t>
            </a:r>
          </a:p>
          <a:p>
            <a:pPr algn="just"/>
            <a:endParaRPr lang="en-US" sz="2400" b="1" dirty="0"/>
          </a:p>
          <a:p>
            <a:pPr algn="just">
              <a:buFont typeface="Arial" panose="020B0604020202020204" pitchFamily="34" charset="0"/>
              <a:buChar char="•"/>
            </a:pPr>
            <a:r>
              <a:rPr lang="en-US" sz="2400" dirty="0"/>
              <a:t>Starts with /* and ends with */</a:t>
            </a:r>
          </a:p>
          <a:p>
            <a:pPr algn="just">
              <a:buFont typeface="Arial" panose="020B0604020202020204" pitchFamily="34" charset="0"/>
              <a:buChar char="•"/>
            </a:pPr>
            <a:r>
              <a:rPr lang="en-US" sz="2400" dirty="0"/>
              <a:t>Can span multiple lines</a:t>
            </a:r>
          </a:p>
          <a:p>
            <a:pPr algn="just">
              <a:buFont typeface="Arial" panose="020B0604020202020204" pitchFamily="34" charset="0"/>
              <a:buChar char="•"/>
            </a:pPr>
            <a:r>
              <a:rPr lang="en-US" sz="2400" dirty="0"/>
              <a:t>Useful for longer explanations or temporarily disabling blocks of </a:t>
            </a:r>
            <a:r>
              <a:rPr lang="en-US" sz="2400" dirty="0" smtClean="0"/>
              <a:t>code</a:t>
            </a:r>
          </a:p>
          <a:p>
            <a:pPr algn="just">
              <a:buFont typeface="Arial" panose="020B0604020202020204" pitchFamily="34" charset="0"/>
              <a:buChar char="•"/>
            </a:pPr>
            <a:endParaRPr lang="en-US" sz="2400" dirty="0"/>
          </a:p>
          <a:p>
            <a:r>
              <a:rPr lang="en-US" sz="2400" b="1" dirty="0"/>
              <a:t>Common Use Cases</a:t>
            </a:r>
          </a:p>
          <a:p>
            <a:pPr marL="342900" indent="-342900" algn="just">
              <a:buFont typeface="Arial" panose="020B0604020202020204" pitchFamily="34" charset="0"/>
              <a:buChar char="•"/>
            </a:pPr>
            <a:r>
              <a:rPr lang="en-US" sz="2400" b="1" dirty="0"/>
              <a:t>Header Information</a:t>
            </a:r>
            <a:r>
              <a:rPr lang="en-US" sz="2400" dirty="0"/>
              <a:t> (at the top of scripts)</a:t>
            </a:r>
          </a:p>
          <a:p>
            <a:pPr marL="342900" indent="-342900" algn="just">
              <a:buFont typeface="Arial" panose="020B0604020202020204" pitchFamily="34" charset="0"/>
              <a:buChar char="•"/>
            </a:pPr>
            <a:r>
              <a:rPr lang="en-US" sz="2400" b="1" dirty="0"/>
              <a:t>Explaining Complex Logic</a:t>
            </a:r>
            <a:endParaRPr lang="en-US" sz="2400" dirty="0"/>
          </a:p>
          <a:p>
            <a:pPr marL="342900" indent="-342900" algn="just">
              <a:buFont typeface="Arial" panose="020B0604020202020204" pitchFamily="34" charset="0"/>
              <a:buChar char="•"/>
            </a:pPr>
            <a:r>
              <a:rPr lang="en-US" sz="2400" b="1" dirty="0"/>
              <a:t>Temporarily Disabling Code</a:t>
            </a:r>
            <a:r>
              <a:rPr lang="en-US" sz="2400" dirty="0"/>
              <a:t> (commenting out sections)</a:t>
            </a:r>
          </a:p>
          <a:p>
            <a:pPr marL="342900" indent="-342900" algn="just">
              <a:buFont typeface="Arial" panose="020B0604020202020204" pitchFamily="34" charset="0"/>
              <a:buChar char="•"/>
            </a:pPr>
            <a:r>
              <a:rPr lang="en-US" sz="2400" b="1" dirty="0"/>
              <a:t>TODO notes</a:t>
            </a:r>
            <a:r>
              <a:rPr lang="en-US" sz="2400" dirty="0"/>
              <a:t> for future improvements</a:t>
            </a:r>
          </a:p>
          <a:p>
            <a:pPr marL="342900" indent="-342900" algn="just">
              <a:buFont typeface="Arial" panose="020B0604020202020204" pitchFamily="34" charset="0"/>
              <a:buChar char="•"/>
            </a:pPr>
            <a:r>
              <a:rPr lang="en-US" sz="2400" b="1" dirty="0"/>
              <a:t>Business Rule Documentation</a:t>
            </a:r>
            <a:endParaRPr lang="en-US" sz="2400" dirty="0"/>
          </a:p>
          <a:p>
            <a:pPr algn="just"/>
            <a:endParaRPr lang="en-US" sz="2400" dirty="0"/>
          </a:p>
        </p:txBody>
      </p:sp>
    </p:spTree>
    <p:extLst>
      <p:ext uri="{BB962C8B-B14F-4D97-AF65-F5344CB8AC3E}">
        <p14:creationId xmlns:p14="http://schemas.microsoft.com/office/powerpoint/2010/main" val="34971320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42393553"/>
              </p:ext>
            </p:extLst>
          </p:nvPr>
        </p:nvGraphicFramePr>
        <p:xfrm>
          <a:off x="2327561" y="1793572"/>
          <a:ext cx="4267202" cy="4219302"/>
        </p:xfrm>
        <a:graphic>
          <a:graphicData uri="http://schemas.openxmlformats.org/drawingml/2006/table">
            <a:tbl>
              <a:tblPr>
                <a:tableStyleId>{616DA210-FB5B-4158-B5E0-FEB733F419BA}</a:tableStyleId>
              </a:tblPr>
              <a:tblGrid>
                <a:gridCol w="2133601">
                  <a:extLst>
                    <a:ext uri="{9D8B030D-6E8A-4147-A177-3AD203B41FA5}">
                      <a16:colId xmlns:a16="http://schemas.microsoft.com/office/drawing/2014/main" val="1148009230"/>
                    </a:ext>
                  </a:extLst>
                </a:gridCol>
                <a:gridCol w="2133601">
                  <a:extLst>
                    <a:ext uri="{9D8B030D-6E8A-4147-A177-3AD203B41FA5}">
                      <a16:colId xmlns:a16="http://schemas.microsoft.com/office/drawing/2014/main" val="1176433583"/>
                    </a:ext>
                  </a:extLst>
                </a:gridCol>
              </a:tblGrid>
              <a:tr h="703217">
                <a:tc>
                  <a:txBody>
                    <a:bodyPr/>
                    <a:lstStyle/>
                    <a:p>
                      <a:pPr algn="ctr"/>
                      <a:r>
                        <a:rPr lang="en-IN" sz="2400" b="1" dirty="0"/>
                        <a:t>Section</a:t>
                      </a:r>
                    </a:p>
                  </a:txBody>
                  <a:tcPr anchor="ctr"/>
                </a:tc>
                <a:tc>
                  <a:txBody>
                    <a:bodyPr/>
                    <a:lstStyle/>
                    <a:p>
                      <a:pPr algn="ctr"/>
                      <a:r>
                        <a:rPr lang="en-IN" sz="2400" b="1" dirty="0"/>
                        <a:t>Purpose</a:t>
                      </a:r>
                    </a:p>
                  </a:txBody>
                  <a:tcPr anchor="ctr"/>
                </a:tc>
                <a:extLst>
                  <a:ext uri="{0D108BD9-81ED-4DB2-BD59-A6C34878D82A}">
                    <a16:rowId xmlns:a16="http://schemas.microsoft.com/office/drawing/2014/main" val="1748200263"/>
                  </a:ext>
                </a:extLst>
              </a:tr>
              <a:tr h="703217">
                <a:tc>
                  <a:txBody>
                    <a:bodyPr/>
                    <a:lstStyle/>
                    <a:p>
                      <a:pPr algn="ctr"/>
                      <a:r>
                        <a:rPr lang="en-IN" sz="2400" b="1" dirty="0"/>
                        <a:t>Left Panel</a:t>
                      </a:r>
                    </a:p>
                  </a:txBody>
                  <a:tcPr anchor="ctr"/>
                </a:tc>
                <a:tc>
                  <a:txBody>
                    <a:bodyPr/>
                    <a:lstStyle/>
                    <a:p>
                      <a:pPr algn="ctr"/>
                      <a:r>
                        <a:rPr lang="en-IN" sz="2400" b="1" dirty="0"/>
                        <a:t>Databases</a:t>
                      </a:r>
                    </a:p>
                  </a:txBody>
                  <a:tcPr anchor="ctr"/>
                </a:tc>
                <a:extLst>
                  <a:ext uri="{0D108BD9-81ED-4DB2-BD59-A6C34878D82A}">
                    <a16:rowId xmlns:a16="http://schemas.microsoft.com/office/drawing/2014/main" val="1134522662"/>
                  </a:ext>
                </a:extLst>
              </a:tr>
              <a:tr h="703217">
                <a:tc>
                  <a:txBody>
                    <a:bodyPr/>
                    <a:lstStyle/>
                    <a:p>
                      <a:pPr algn="ctr"/>
                      <a:r>
                        <a:rPr lang="en-IN" sz="2400" b="1" dirty="0"/>
                        <a:t>Center</a:t>
                      </a:r>
                    </a:p>
                  </a:txBody>
                  <a:tcPr anchor="ctr"/>
                </a:tc>
                <a:tc>
                  <a:txBody>
                    <a:bodyPr/>
                    <a:lstStyle/>
                    <a:p>
                      <a:pPr algn="ctr"/>
                      <a:r>
                        <a:rPr lang="en-IN" sz="2400" b="1" dirty="0"/>
                        <a:t>Write SQL</a:t>
                      </a:r>
                    </a:p>
                  </a:txBody>
                  <a:tcPr anchor="ctr"/>
                </a:tc>
                <a:extLst>
                  <a:ext uri="{0D108BD9-81ED-4DB2-BD59-A6C34878D82A}">
                    <a16:rowId xmlns:a16="http://schemas.microsoft.com/office/drawing/2014/main" val="2724984734"/>
                  </a:ext>
                </a:extLst>
              </a:tr>
              <a:tr h="703217">
                <a:tc>
                  <a:txBody>
                    <a:bodyPr/>
                    <a:lstStyle/>
                    <a:p>
                      <a:pPr algn="ctr"/>
                      <a:r>
                        <a:rPr lang="en-IN" sz="2400" b="1" dirty="0"/>
                        <a:t>Top</a:t>
                      </a:r>
                    </a:p>
                  </a:txBody>
                  <a:tcPr anchor="ctr"/>
                </a:tc>
                <a:tc>
                  <a:txBody>
                    <a:bodyPr/>
                    <a:lstStyle/>
                    <a:p>
                      <a:pPr algn="ctr"/>
                      <a:r>
                        <a:rPr lang="en-IN" sz="2400" b="1" dirty="0"/>
                        <a:t>Run Query</a:t>
                      </a:r>
                    </a:p>
                  </a:txBody>
                  <a:tcPr anchor="ctr"/>
                </a:tc>
                <a:extLst>
                  <a:ext uri="{0D108BD9-81ED-4DB2-BD59-A6C34878D82A}">
                    <a16:rowId xmlns:a16="http://schemas.microsoft.com/office/drawing/2014/main" val="885942207"/>
                  </a:ext>
                </a:extLst>
              </a:tr>
              <a:tr h="703217">
                <a:tc>
                  <a:txBody>
                    <a:bodyPr/>
                    <a:lstStyle/>
                    <a:p>
                      <a:pPr algn="ctr"/>
                      <a:r>
                        <a:rPr lang="en-IN" sz="2400" b="1" dirty="0"/>
                        <a:t>Bottom</a:t>
                      </a:r>
                    </a:p>
                  </a:txBody>
                  <a:tcPr anchor="ctr"/>
                </a:tc>
                <a:tc>
                  <a:txBody>
                    <a:bodyPr/>
                    <a:lstStyle/>
                    <a:p>
                      <a:pPr algn="ctr"/>
                      <a:r>
                        <a:rPr lang="en-IN" sz="2400" b="1" dirty="0"/>
                        <a:t>Output/Error</a:t>
                      </a:r>
                    </a:p>
                  </a:txBody>
                  <a:tcPr anchor="ctr"/>
                </a:tc>
                <a:extLst>
                  <a:ext uri="{0D108BD9-81ED-4DB2-BD59-A6C34878D82A}">
                    <a16:rowId xmlns:a16="http://schemas.microsoft.com/office/drawing/2014/main" val="2478950024"/>
                  </a:ext>
                </a:extLst>
              </a:tr>
              <a:tr h="703217">
                <a:tc>
                  <a:txBody>
                    <a:bodyPr/>
                    <a:lstStyle/>
                    <a:p>
                      <a:pPr algn="ctr"/>
                      <a:r>
                        <a:rPr lang="en-IN" sz="2400" b="1" dirty="0"/>
                        <a:t>Right</a:t>
                      </a:r>
                    </a:p>
                  </a:txBody>
                  <a:tcPr anchor="ctr"/>
                </a:tc>
                <a:tc>
                  <a:txBody>
                    <a:bodyPr/>
                    <a:lstStyle/>
                    <a:p>
                      <a:pPr algn="ctr"/>
                      <a:r>
                        <a:rPr lang="en-IN" sz="2400" b="1" dirty="0"/>
                        <a:t>Help</a:t>
                      </a:r>
                    </a:p>
                  </a:txBody>
                  <a:tcPr anchor="ctr"/>
                </a:tc>
                <a:extLst>
                  <a:ext uri="{0D108BD9-81ED-4DB2-BD59-A6C34878D82A}">
                    <a16:rowId xmlns:a16="http://schemas.microsoft.com/office/drawing/2014/main" val="296498193"/>
                  </a:ext>
                </a:extLst>
              </a:tr>
            </a:tbl>
          </a:graphicData>
        </a:graphic>
      </p:graphicFrame>
    </p:spTree>
    <p:extLst>
      <p:ext uri="{BB962C8B-B14F-4D97-AF65-F5344CB8AC3E}">
        <p14:creationId xmlns:p14="http://schemas.microsoft.com/office/powerpoint/2010/main" val="22252441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96120528"/>
              </p:ext>
            </p:extLst>
          </p:nvPr>
        </p:nvGraphicFramePr>
        <p:xfrm>
          <a:off x="1177636" y="761996"/>
          <a:ext cx="6109855" cy="5444840"/>
        </p:xfrm>
        <a:graphic>
          <a:graphicData uri="http://schemas.openxmlformats.org/drawingml/2006/table">
            <a:tbl>
              <a:tblPr>
                <a:tableStyleId>{D7AC3CCA-C797-4891-BE02-D94E43425B78}</a:tableStyleId>
              </a:tblPr>
              <a:tblGrid>
                <a:gridCol w="2484784">
                  <a:extLst>
                    <a:ext uri="{9D8B030D-6E8A-4147-A177-3AD203B41FA5}">
                      <a16:colId xmlns:a16="http://schemas.microsoft.com/office/drawing/2014/main" val="616513226"/>
                    </a:ext>
                  </a:extLst>
                </a:gridCol>
                <a:gridCol w="3625071">
                  <a:extLst>
                    <a:ext uri="{9D8B030D-6E8A-4147-A177-3AD203B41FA5}">
                      <a16:colId xmlns:a16="http://schemas.microsoft.com/office/drawing/2014/main" val="140604263"/>
                    </a:ext>
                  </a:extLst>
                </a:gridCol>
              </a:tblGrid>
              <a:tr h="544484">
                <a:tc>
                  <a:txBody>
                    <a:bodyPr/>
                    <a:lstStyle/>
                    <a:p>
                      <a:pPr algn="ctr"/>
                      <a:r>
                        <a:rPr lang="en-IN" sz="1700" dirty="0"/>
                        <a:t>Icon</a:t>
                      </a:r>
                    </a:p>
                  </a:txBody>
                  <a:tcPr marL="85606" marR="85606" marT="42803" marB="42803" anchor="ctr"/>
                </a:tc>
                <a:tc>
                  <a:txBody>
                    <a:bodyPr/>
                    <a:lstStyle/>
                    <a:p>
                      <a:pPr algn="ctr"/>
                      <a:r>
                        <a:rPr lang="en-IN" sz="1700" dirty="0"/>
                        <a:t>Function</a:t>
                      </a:r>
                    </a:p>
                  </a:txBody>
                  <a:tcPr marL="85606" marR="85606" marT="42803" marB="42803" anchor="ctr"/>
                </a:tc>
                <a:extLst>
                  <a:ext uri="{0D108BD9-81ED-4DB2-BD59-A6C34878D82A}">
                    <a16:rowId xmlns:a16="http://schemas.microsoft.com/office/drawing/2014/main" val="1695415366"/>
                  </a:ext>
                </a:extLst>
              </a:tr>
              <a:tr h="544484">
                <a:tc>
                  <a:txBody>
                    <a:bodyPr/>
                    <a:lstStyle/>
                    <a:p>
                      <a:pPr algn="ctr"/>
                      <a:r>
                        <a:rPr lang="en-IN" sz="1700" dirty="0"/>
                        <a:t>⚡</a:t>
                      </a:r>
                    </a:p>
                  </a:txBody>
                  <a:tcPr marL="85606" marR="85606" marT="42803" marB="42803" anchor="ctr"/>
                </a:tc>
                <a:tc>
                  <a:txBody>
                    <a:bodyPr/>
                    <a:lstStyle/>
                    <a:p>
                      <a:pPr algn="ctr"/>
                      <a:r>
                        <a:rPr lang="en-IN" sz="1700" dirty="0"/>
                        <a:t>Execute query</a:t>
                      </a:r>
                    </a:p>
                  </a:txBody>
                  <a:tcPr marL="85606" marR="85606" marT="42803" marB="42803" anchor="ctr"/>
                </a:tc>
                <a:extLst>
                  <a:ext uri="{0D108BD9-81ED-4DB2-BD59-A6C34878D82A}">
                    <a16:rowId xmlns:a16="http://schemas.microsoft.com/office/drawing/2014/main" val="1302990917"/>
                  </a:ext>
                </a:extLst>
              </a:tr>
              <a:tr h="544484">
                <a:tc>
                  <a:txBody>
                    <a:bodyPr/>
                    <a:lstStyle/>
                    <a:p>
                      <a:pPr algn="ctr"/>
                      <a:r>
                        <a:rPr lang="en-IN" sz="1700" dirty="0"/>
                        <a:t>⛔</a:t>
                      </a:r>
                    </a:p>
                  </a:txBody>
                  <a:tcPr marL="85606" marR="85606" marT="42803" marB="42803" anchor="ctr"/>
                </a:tc>
                <a:tc>
                  <a:txBody>
                    <a:bodyPr/>
                    <a:lstStyle/>
                    <a:p>
                      <a:pPr algn="ctr"/>
                      <a:r>
                        <a:rPr lang="en-IN" sz="1700" dirty="0"/>
                        <a:t>Stop query</a:t>
                      </a:r>
                    </a:p>
                  </a:txBody>
                  <a:tcPr marL="85606" marR="85606" marT="42803" marB="42803" anchor="ctr"/>
                </a:tc>
                <a:extLst>
                  <a:ext uri="{0D108BD9-81ED-4DB2-BD59-A6C34878D82A}">
                    <a16:rowId xmlns:a16="http://schemas.microsoft.com/office/drawing/2014/main" val="649972416"/>
                  </a:ext>
                </a:extLst>
              </a:tr>
              <a:tr h="544484">
                <a:tc>
                  <a:txBody>
                    <a:bodyPr/>
                    <a:lstStyle/>
                    <a:p>
                      <a:pPr algn="ctr"/>
                      <a:r>
                        <a:rPr lang="en-IN" sz="1700" dirty="0"/>
                        <a:t>💾</a:t>
                      </a:r>
                    </a:p>
                  </a:txBody>
                  <a:tcPr marL="85606" marR="85606" marT="42803" marB="42803" anchor="ctr"/>
                </a:tc>
                <a:tc>
                  <a:txBody>
                    <a:bodyPr/>
                    <a:lstStyle/>
                    <a:p>
                      <a:pPr algn="ctr"/>
                      <a:r>
                        <a:rPr lang="en-IN" sz="1700" dirty="0"/>
                        <a:t>Save</a:t>
                      </a:r>
                    </a:p>
                  </a:txBody>
                  <a:tcPr marL="85606" marR="85606" marT="42803" marB="42803" anchor="ctr"/>
                </a:tc>
                <a:extLst>
                  <a:ext uri="{0D108BD9-81ED-4DB2-BD59-A6C34878D82A}">
                    <a16:rowId xmlns:a16="http://schemas.microsoft.com/office/drawing/2014/main" val="4167155129"/>
                  </a:ext>
                </a:extLst>
              </a:tr>
              <a:tr h="544484">
                <a:tc>
                  <a:txBody>
                    <a:bodyPr/>
                    <a:lstStyle/>
                    <a:p>
                      <a:pPr algn="ctr"/>
                      <a:r>
                        <a:rPr lang="en-IN" sz="1700" dirty="0"/>
                        <a:t>📂</a:t>
                      </a:r>
                    </a:p>
                  </a:txBody>
                  <a:tcPr marL="85606" marR="85606" marT="42803" marB="42803" anchor="ctr"/>
                </a:tc>
                <a:tc>
                  <a:txBody>
                    <a:bodyPr/>
                    <a:lstStyle/>
                    <a:p>
                      <a:pPr algn="ctr"/>
                      <a:r>
                        <a:rPr lang="en-IN" sz="1700" dirty="0"/>
                        <a:t>Open file</a:t>
                      </a:r>
                    </a:p>
                  </a:txBody>
                  <a:tcPr marL="85606" marR="85606" marT="42803" marB="42803" anchor="ctr"/>
                </a:tc>
                <a:extLst>
                  <a:ext uri="{0D108BD9-81ED-4DB2-BD59-A6C34878D82A}">
                    <a16:rowId xmlns:a16="http://schemas.microsoft.com/office/drawing/2014/main" val="1383708194"/>
                  </a:ext>
                </a:extLst>
              </a:tr>
              <a:tr h="544484">
                <a:tc>
                  <a:txBody>
                    <a:bodyPr/>
                    <a:lstStyle/>
                    <a:p>
                      <a:pPr algn="ctr"/>
                      <a:r>
                        <a:rPr lang="en-IN" sz="1700" dirty="0"/>
                        <a:t>📝</a:t>
                      </a:r>
                    </a:p>
                  </a:txBody>
                  <a:tcPr marL="85606" marR="85606" marT="42803" marB="42803" anchor="ctr"/>
                </a:tc>
                <a:tc>
                  <a:txBody>
                    <a:bodyPr/>
                    <a:lstStyle/>
                    <a:p>
                      <a:pPr algn="ctr"/>
                      <a:r>
                        <a:rPr lang="en-IN" sz="1700" dirty="0"/>
                        <a:t>New tab</a:t>
                      </a:r>
                    </a:p>
                  </a:txBody>
                  <a:tcPr marL="85606" marR="85606" marT="42803" marB="42803" anchor="ctr"/>
                </a:tc>
                <a:extLst>
                  <a:ext uri="{0D108BD9-81ED-4DB2-BD59-A6C34878D82A}">
                    <a16:rowId xmlns:a16="http://schemas.microsoft.com/office/drawing/2014/main" val="2031398604"/>
                  </a:ext>
                </a:extLst>
              </a:tr>
              <a:tr h="544484">
                <a:tc>
                  <a:txBody>
                    <a:bodyPr/>
                    <a:lstStyle/>
                    <a:p>
                      <a:pPr algn="ctr"/>
                      <a:r>
                        <a:rPr lang="en-IN" sz="1700" dirty="0"/>
                        <a:t>🔄</a:t>
                      </a:r>
                    </a:p>
                  </a:txBody>
                  <a:tcPr marL="85606" marR="85606" marT="42803" marB="42803" anchor="ctr"/>
                </a:tc>
                <a:tc>
                  <a:txBody>
                    <a:bodyPr/>
                    <a:lstStyle/>
                    <a:p>
                      <a:pPr algn="ctr"/>
                      <a:r>
                        <a:rPr lang="en-IN" sz="1700" dirty="0"/>
                        <a:t>Refresh schema</a:t>
                      </a:r>
                    </a:p>
                  </a:txBody>
                  <a:tcPr marL="85606" marR="85606" marT="42803" marB="42803" anchor="ctr"/>
                </a:tc>
                <a:extLst>
                  <a:ext uri="{0D108BD9-81ED-4DB2-BD59-A6C34878D82A}">
                    <a16:rowId xmlns:a16="http://schemas.microsoft.com/office/drawing/2014/main" val="325626777"/>
                  </a:ext>
                </a:extLst>
              </a:tr>
              <a:tr h="544484">
                <a:tc>
                  <a:txBody>
                    <a:bodyPr/>
                    <a:lstStyle/>
                    <a:p>
                      <a:pPr algn="ctr"/>
                      <a:r>
                        <a:rPr lang="en-IN" sz="1700" dirty="0"/>
                        <a:t>🔍</a:t>
                      </a:r>
                    </a:p>
                  </a:txBody>
                  <a:tcPr marL="85606" marR="85606" marT="42803" marB="42803" anchor="ctr"/>
                </a:tc>
                <a:tc>
                  <a:txBody>
                    <a:bodyPr/>
                    <a:lstStyle/>
                    <a:p>
                      <a:pPr algn="ctr"/>
                      <a:r>
                        <a:rPr lang="en-IN" sz="1700" dirty="0"/>
                        <a:t>Search</a:t>
                      </a:r>
                    </a:p>
                  </a:txBody>
                  <a:tcPr marL="85606" marR="85606" marT="42803" marB="42803" anchor="ctr"/>
                </a:tc>
                <a:extLst>
                  <a:ext uri="{0D108BD9-81ED-4DB2-BD59-A6C34878D82A}">
                    <a16:rowId xmlns:a16="http://schemas.microsoft.com/office/drawing/2014/main" val="3862302797"/>
                  </a:ext>
                </a:extLst>
              </a:tr>
              <a:tr h="544484">
                <a:tc>
                  <a:txBody>
                    <a:bodyPr/>
                    <a:lstStyle/>
                    <a:p>
                      <a:pPr algn="ctr"/>
                      <a:r>
                        <a:rPr lang="en-IN" sz="1700" dirty="0"/>
                        <a:t>✔</a:t>
                      </a:r>
                    </a:p>
                  </a:txBody>
                  <a:tcPr marL="85606" marR="85606" marT="42803" marB="42803" anchor="ctr"/>
                </a:tc>
                <a:tc>
                  <a:txBody>
                    <a:bodyPr/>
                    <a:lstStyle/>
                    <a:p>
                      <a:pPr algn="ctr"/>
                      <a:r>
                        <a:rPr lang="en-IN" sz="1700" dirty="0"/>
                        <a:t>Commit</a:t>
                      </a:r>
                    </a:p>
                  </a:txBody>
                  <a:tcPr marL="85606" marR="85606" marT="42803" marB="42803" anchor="ctr"/>
                </a:tc>
                <a:extLst>
                  <a:ext uri="{0D108BD9-81ED-4DB2-BD59-A6C34878D82A}">
                    <a16:rowId xmlns:a16="http://schemas.microsoft.com/office/drawing/2014/main" val="3649184788"/>
                  </a:ext>
                </a:extLst>
              </a:tr>
              <a:tr h="544484">
                <a:tc>
                  <a:txBody>
                    <a:bodyPr/>
                    <a:lstStyle/>
                    <a:p>
                      <a:pPr algn="ctr"/>
                      <a:r>
                        <a:rPr lang="en-IN" sz="1700" dirty="0"/>
                        <a:t>↩</a:t>
                      </a:r>
                    </a:p>
                  </a:txBody>
                  <a:tcPr marL="85606" marR="85606" marT="42803" marB="42803" anchor="ctr"/>
                </a:tc>
                <a:tc>
                  <a:txBody>
                    <a:bodyPr/>
                    <a:lstStyle/>
                    <a:p>
                      <a:pPr algn="ctr"/>
                      <a:r>
                        <a:rPr lang="en-IN" sz="1700" dirty="0"/>
                        <a:t>Rollback</a:t>
                      </a:r>
                    </a:p>
                  </a:txBody>
                  <a:tcPr marL="85606" marR="85606" marT="42803" marB="42803" anchor="ctr"/>
                </a:tc>
                <a:extLst>
                  <a:ext uri="{0D108BD9-81ED-4DB2-BD59-A6C34878D82A}">
                    <a16:rowId xmlns:a16="http://schemas.microsoft.com/office/drawing/2014/main" val="395194553"/>
                  </a:ext>
                </a:extLst>
              </a:tr>
            </a:tbl>
          </a:graphicData>
        </a:graphic>
      </p:graphicFrame>
    </p:spTree>
    <p:extLst>
      <p:ext uri="{BB962C8B-B14F-4D97-AF65-F5344CB8AC3E}">
        <p14:creationId xmlns:p14="http://schemas.microsoft.com/office/powerpoint/2010/main" val="2404220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872" y="1080655"/>
            <a:ext cx="7592292" cy="5555673"/>
          </a:xfrm>
          <a:prstGeom prst="rect">
            <a:avLst/>
          </a:prstGeom>
        </p:spPr>
      </p:pic>
    </p:spTree>
    <p:extLst>
      <p:ext uri="{BB962C8B-B14F-4D97-AF65-F5344CB8AC3E}">
        <p14:creationId xmlns:p14="http://schemas.microsoft.com/office/powerpoint/2010/main" val="4912702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0437" y="1485175"/>
            <a:ext cx="7855527" cy="3908762"/>
          </a:xfrm>
          <a:prstGeom prst="rect">
            <a:avLst/>
          </a:prstGeom>
        </p:spPr>
        <p:txBody>
          <a:bodyPr wrap="square">
            <a:spAutoFit/>
          </a:bodyPr>
          <a:lstStyle/>
          <a:p>
            <a:pPr algn="just"/>
            <a:r>
              <a:rPr lang="en-US" sz="2800" b="1" dirty="0" smtClean="0"/>
              <a:t>What is a Key in SQL?</a:t>
            </a:r>
          </a:p>
          <a:p>
            <a:pPr algn="just"/>
            <a:endParaRPr lang="en-US" sz="2800" b="1" dirty="0" smtClean="0"/>
          </a:p>
          <a:p>
            <a:pPr marL="285750" indent="-285750" algn="just">
              <a:buFont typeface="Arial" panose="020B0604020202020204" pitchFamily="34" charset="0"/>
              <a:buChar char="•"/>
            </a:pPr>
            <a:r>
              <a:rPr lang="en-US" sz="2400" dirty="0" smtClean="0">
                <a:effectLst/>
              </a:rPr>
              <a:t>A </a:t>
            </a:r>
            <a:r>
              <a:rPr lang="en-US" sz="2400" b="1" dirty="0" smtClean="0">
                <a:effectLst/>
              </a:rPr>
              <a:t>key</a:t>
            </a:r>
            <a:r>
              <a:rPr lang="en-US" sz="2400" dirty="0" smtClean="0">
                <a:effectLst/>
              </a:rPr>
              <a:t> is a special column (or group of columns) in a table that helps </a:t>
            </a:r>
            <a:r>
              <a:rPr lang="en-US" sz="2400" b="1" dirty="0" smtClean="0">
                <a:effectLst/>
              </a:rPr>
              <a:t>identify rows</a:t>
            </a:r>
            <a:r>
              <a:rPr lang="en-US" sz="2400" dirty="0" smtClean="0">
                <a:effectLst/>
              </a:rPr>
              <a:t> uniquely or connect tables together.</a:t>
            </a:r>
          </a:p>
          <a:p>
            <a:pPr marL="285750" indent="-285750" algn="just">
              <a:buFont typeface="Arial" panose="020B0604020202020204" pitchFamily="34" charset="0"/>
              <a:buChar char="•"/>
            </a:pPr>
            <a:endParaRPr lang="en-US" sz="2400" dirty="0" smtClean="0">
              <a:effectLst/>
            </a:endParaRPr>
          </a:p>
          <a:p>
            <a:pPr marL="285750" indent="-285750" algn="just">
              <a:buFont typeface="Arial" panose="020B0604020202020204" pitchFamily="34" charset="0"/>
              <a:buChar char="•"/>
            </a:pPr>
            <a:r>
              <a:rPr lang="en-US" sz="2400" dirty="0" smtClean="0"/>
              <a:t>Your </a:t>
            </a:r>
            <a:r>
              <a:rPr lang="en-US" sz="2400" b="1" dirty="0" smtClean="0"/>
              <a:t>Aadhaar number</a:t>
            </a:r>
            <a:r>
              <a:rPr lang="en-US" sz="2400" dirty="0" smtClean="0"/>
              <a:t> or </a:t>
            </a:r>
            <a:r>
              <a:rPr lang="en-US" sz="2400" b="1" dirty="0" smtClean="0"/>
              <a:t>Phone number</a:t>
            </a:r>
            <a:r>
              <a:rPr lang="en-US" sz="2400" dirty="0" smtClean="0"/>
              <a:t> is a key that uniquely identifies </a:t>
            </a:r>
            <a:r>
              <a:rPr lang="en-US" sz="2400" b="1" dirty="0" smtClean="0"/>
              <a:t>you</a:t>
            </a:r>
            <a:r>
              <a:rPr lang="en-US" sz="2400" dirty="0" smtClean="0"/>
              <a:t>.</a:t>
            </a:r>
          </a:p>
          <a:p>
            <a:pPr marL="285750" indent="-285750" algn="just">
              <a:buFont typeface="Arial" panose="020B0604020202020204" pitchFamily="34" charset="0"/>
              <a:buChar char="•"/>
            </a:pPr>
            <a:r>
              <a:rPr lang="en-US" sz="2400" dirty="0" smtClean="0"/>
              <a:t>Same way, keys help the database find or connect data easily.</a:t>
            </a:r>
            <a:endParaRPr lang="en-US" sz="2400" dirty="0"/>
          </a:p>
        </p:txBody>
      </p:sp>
    </p:spTree>
    <p:extLst>
      <p:ext uri="{BB962C8B-B14F-4D97-AF65-F5344CB8AC3E}">
        <p14:creationId xmlns:p14="http://schemas.microsoft.com/office/powerpoint/2010/main" val="801711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833827"/>
            <a:ext cx="7883236" cy="1846659"/>
          </a:xfrm>
          <a:prstGeom prst="rect">
            <a:avLst/>
          </a:prstGeom>
        </p:spPr>
        <p:txBody>
          <a:bodyPr wrap="square">
            <a:spAutoFit/>
          </a:bodyPr>
          <a:lstStyle/>
          <a:p>
            <a:r>
              <a:rPr lang="en-US" sz="2400" b="1" dirty="0" smtClean="0"/>
              <a:t>1. Super Key :</a:t>
            </a:r>
          </a:p>
          <a:p>
            <a:r>
              <a:rPr lang="en-US" sz="2400" dirty="0" smtClean="0">
                <a:effectLst/>
              </a:rPr>
              <a:t>A Super Key is any combination of columns that can uniquely identify each row in a table.</a:t>
            </a:r>
          </a:p>
          <a:p>
            <a:r>
              <a:rPr lang="en-US" sz="2400" dirty="0" smtClean="0"/>
              <a:t>Ex:</a:t>
            </a:r>
          </a:p>
          <a:p>
            <a:endParaRPr lang="en-US" dirty="0">
              <a:effectLst/>
            </a:endParaRPr>
          </a:p>
        </p:txBody>
      </p:sp>
      <p:graphicFrame>
        <p:nvGraphicFramePr>
          <p:cNvPr id="3" name="Table 2"/>
          <p:cNvGraphicFramePr>
            <a:graphicFrameLocks noGrp="1"/>
          </p:cNvGraphicFramePr>
          <p:nvPr>
            <p:extLst>
              <p:ext uri="{D42A27DB-BD31-4B8C-83A1-F6EECF244321}">
                <p14:modId xmlns:p14="http://schemas.microsoft.com/office/powerpoint/2010/main" val="143952284"/>
              </p:ext>
            </p:extLst>
          </p:nvPr>
        </p:nvGraphicFramePr>
        <p:xfrm>
          <a:off x="1288476" y="2131846"/>
          <a:ext cx="7356760" cy="1097280"/>
        </p:xfrm>
        <a:graphic>
          <a:graphicData uri="http://schemas.openxmlformats.org/drawingml/2006/table">
            <a:tbl>
              <a:tblPr>
                <a:tableStyleId>{616DA210-FB5B-4158-B5E0-FEB733F419BA}</a:tableStyleId>
              </a:tblPr>
              <a:tblGrid>
                <a:gridCol w="1471352">
                  <a:extLst>
                    <a:ext uri="{9D8B030D-6E8A-4147-A177-3AD203B41FA5}">
                      <a16:colId xmlns:a16="http://schemas.microsoft.com/office/drawing/2014/main" val="50364840"/>
                    </a:ext>
                  </a:extLst>
                </a:gridCol>
                <a:gridCol w="1471352">
                  <a:extLst>
                    <a:ext uri="{9D8B030D-6E8A-4147-A177-3AD203B41FA5}">
                      <a16:colId xmlns:a16="http://schemas.microsoft.com/office/drawing/2014/main" val="1807152861"/>
                    </a:ext>
                  </a:extLst>
                </a:gridCol>
                <a:gridCol w="1471352">
                  <a:extLst>
                    <a:ext uri="{9D8B030D-6E8A-4147-A177-3AD203B41FA5}">
                      <a16:colId xmlns:a16="http://schemas.microsoft.com/office/drawing/2014/main" val="3632657944"/>
                    </a:ext>
                  </a:extLst>
                </a:gridCol>
                <a:gridCol w="1471352">
                  <a:extLst>
                    <a:ext uri="{9D8B030D-6E8A-4147-A177-3AD203B41FA5}">
                      <a16:colId xmlns:a16="http://schemas.microsoft.com/office/drawing/2014/main" val="3826347642"/>
                    </a:ext>
                  </a:extLst>
                </a:gridCol>
                <a:gridCol w="1471352">
                  <a:extLst>
                    <a:ext uri="{9D8B030D-6E8A-4147-A177-3AD203B41FA5}">
                      <a16:colId xmlns:a16="http://schemas.microsoft.com/office/drawing/2014/main" val="280984309"/>
                    </a:ext>
                  </a:extLst>
                </a:gridCol>
              </a:tblGrid>
              <a:tr h="0">
                <a:tc>
                  <a:txBody>
                    <a:bodyPr/>
                    <a:lstStyle/>
                    <a:p>
                      <a:pPr algn="ctr"/>
                      <a:r>
                        <a:rPr lang="en-IN" sz="2000" dirty="0"/>
                        <a:t>Customer ID</a:t>
                      </a:r>
                    </a:p>
                  </a:txBody>
                  <a:tcPr anchor="ctr"/>
                </a:tc>
                <a:tc>
                  <a:txBody>
                    <a:bodyPr/>
                    <a:lstStyle/>
                    <a:p>
                      <a:pPr algn="ctr"/>
                      <a:r>
                        <a:rPr lang="en-IN" sz="2000" dirty="0"/>
                        <a:t>Name</a:t>
                      </a:r>
                    </a:p>
                  </a:txBody>
                  <a:tcPr anchor="ctr"/>
                </a:tc>
                <a:tc>
                  <a:txBody>
                    <a:bodyPr/>
                    <a:lstStyle/>
                    <a:p>
                      <a:pPr algn="ctr"/>
                      <a:r>
                        <a:rPr lang="en-IN" sz="2000" dirty="0"/>
                        <a:t>Email</a:t>
                      </a:r>
                    </a:p>
                  </a:txBody>
                  <a:tcPr anchor="ctr"/>
                </a:tc>
                <a:tc>
                  <a:txBody>
                    <a:bodyPr/>
                    <a:lstStyle/>
                    <a:p>
                      <a:pPr algn="ctr"/>
                      <a:r>
                        <a:rPr lang="en-IN" sz="2000" dirty="0"/>
                        <a:t>Phone</a:t>
                      </a:r>
                    </a:p>
                  </a:txBody>
                  <a:tcPr anchor="ctr"/>
                </a:tc>
                <a:tc>
                  <a:txBody>
                    <a:bodyPr/>
                    <a:lstStyle/>
                    <a:p>
                      <a:pPr algn="ctr"/>
                      <a:r>
                        <a:rPr lang="en-IN" sz="2000" dirty="0"/>
                        <a:t>City</a:t>
                      </a:r>
                    </a:p>
                  </a:txBody>
                  <a:tcPr anchor="ctr"/>
                </a:tc>
                <a:extLst>
                  <a:ext uri="{0D108BD9-81ED-4DB2-BD59-A6C34878D82A}">
                    <a16:rowId xmlns:a16="http://schemas.microsoft.com/office/drawing/2014/main" val="3401878138"/>
                  </a:ext>
                </a:extLst>
              </a:tr>
              <a:tr h="0">
                <a:tc>
                  <a:txBody>
                    <a:bodyPr/>
                    <a:lstStyle/>
                    <a:p>
                      <a:pPr algn="ctr"/>
                      <a:r>
                        <a:rPr lang="en-IN" sz="2000" dirty="0"/>
                        <a:t>101</a:t>
                      </a:r>
                    </a:p>
                  </a:txBody>
                  <a:tcPr anchor="ctr"/>
                </a:tc>
                <a:tc>
                  <a:txBody>
                    <a:bodyPr/>
                    <a:lstStyle/>
                    <a:p>
                      <a:pPr algn="ctr"/>
                      <a:r>
                        <a:rPr lang="en-IN" sz="2000" dirty="0"/>
                        <a:t>Pratap</a:t>
                      </a:r>
                    </a:p>
                  </a:txBody>
                  <a:tcPr anchor="ctr"/>
                </a:tc>
                <a:tc>
                  <a:txBody>
                    <a:bodyPr/>
                    <a:lstStyle/>
                    <a:p>
                      <a:pPr algn="ctr"/>
                      <a:r>
                        <a:rPr lang="en-IN" sz="2000" dirty="0">
                          <a:hlinkClick r:id="rId2"/>
                        </a:rPr>
                        <a:t>pratap@gmail.com</a:t>
                      </a:r>
                      <a:endParaRPr lang="en-IN" sz="2000" dirty="0"/>
                    </a:p>
                  </a:txBody>
                  <a:tcPr anchor="ctr"/>
                </a:tc>
                <a:tc>
                  <a:txBody>
                    <a:bodyPr/>
                    <a:lstStyle/>
                    <a:p>
                      <a:pPr algn="ctr"/>
                      <a:r>
                        <a:rPr lang="en-IN" sz="2000" dirty="0"/>
                        <a:t>9876543210</a:t>
                      </a:r>
                    </a:p>
                  </a:txBody>
                  <a:tcPr anchor="ctr"/>
                </a:tc>
                <a:tc>
                  <a:txBody>
                    <a:bodyPr/>
                    <a:lstStyle/>
                    <a:p>
                      <a:pPr algn="ctr"/>
                      <a:r>
                        <a:rPr lang="en-IN" sz="2000" dirty="0"/>
                        <a:t>Pune</a:t>
                      </a:r>
                    </a:p>
                  </a:txBody>
                  <a:tcPr anchor="ctr"/>
                </a:tc>
                <a:extLst>
                  <a:ext uri="{0D108BD9-81ED-4DB2-BD59-A6C34878D82A}">
                    <a16:rowId xmlns:a16="http://schemas.microsoft.com/office/drawing/2014/main" val="123758565"/>
                  </a:ext>
                </a:extLst>
              </a:tr>
            </a:tbl>
          </a:graphicData>
        </a:graphic>
      </p:graphicFrame>
      <p:sp>
        <p:nvSpPr>
          <p:cNvPr id="4" name="Rectangle 3"/>
          <p:cNvSpPr/>
          <p:nvPr/>
        </p:nvSpPr>
        <p:spPr>
          <a:xfrm>
            <a:off x="665017" y="3400109"/>
            <a:ext cx="6719455" cy="2862322"/>
          </a:xfrm>
          <a:prstGeom prst="rect">
            <a:avLst/>
          </a:prstGeom>
        </p:spPr>
        <p:txBody>
          <a:bodyPr wrap="square">
            <a:spAutoFit/>
          </a:bodyPr>
          <a:lstStyle/>
          <a:p>
            <a:pPr algn="just"/>
            <a:r>
              <a:rPr lang="en-US" sz="2000" b="1" dirty="0" smtClean="0">
                <a:effectLst/>
              </a:rPr>
              <a:t>Super Keys</a:t>
            </a:r>
            <a:r>
              <a:rPr lang="en-US" sz="2000" dirty="0" smtClean="0">
                <a:effectLst/>
              </a:rPr>
              <a:t> can be:</a:t>
            </a:r>
          </a:p>
          <a:p>
            <a:pPr algn="just">
              <a:buFont typeface="Arial" panose="020B0604020202020204" pitchFamily="34" charset="0"/>
              <a:buChar char="•"/>
            </a:pPr>
            <a:r>
              <a:rPr lang="en-US" sz="2000" dirty="0" smtClean="0"/>
              <a:t>Customer ID (alone)</a:t>
            </a:r>
          </a:p>
          <a:p>
            <a:pPr algn="just">
              <a:buFont typeface="Arial" panose="020B0604020202020204" pitchFamily="34" charset="0"/>
              <a:buChar char="•"/>
            </a:pPr>
            <a:r>
              <a:rPr lang="en-US" sz="2000" dirty="0" smtClean="0"/>
              <a:t>Email address (alone)</a:t>
            </a:r>
          </a:p>
          <a:p>
            <a:pPr algn="just">
              <a:buFont typeface="Arial" panose="020B0604020202020204" pitchFamily="34" charset="0"/>
              <a:buChar char="•"/>
            </a:pPr>
            <a:r>
              <a:rPr lang="en-US" sz="2000" dirty="0" smtClean="0"/>
              <a:t>Phone Number (alone)</a:t>
            </a:r>
          </a:p>
          <a:p>
            <a:pPr algn="just">
              <a:buFont typeface="Arial" panose="020B0604020202020204" pitchFamily="34" charset="0"/>
              <a:buChar char="•"/>
            </a:pPr>
            <a:r>
              <a:rPr lang="en-US" sz="2000" dirty="0" smtClean="0"/>
              <a:t>Customer ID + Name</a:t>
            </a:r>
          </a:p>
          <a:p>
            <a:pPr algn="just">
              <a:buFont typeface="Arial" panose="020B0604020202020204" pitchFamily="34" charset="0"/>
              <a:buChar char="•"/>
            </a:pPr>
            <a:r>
              <a:rPr lang="en-US" sz="2000" dirty="0" smtClean="0"/>
              <a:t>Customer ID + City</a:t>
            </a:r>
          </a:p>
          <a:p>
            <a:pPr algn="just">
              <a:buFont typeface="Arial" panose="020B0604020202020204" pitchFamily="34" charset="0"/>
              <a:buChar char="•"/>
            </a:pPr>
            <a:r>
              <a:rPr lang="en-US" sz="2000" dirty="0" smtClean="0"/>
              <a:t>Customer ID + Email</a:t>
            </a:r>
          </a:p>
          <a:p>
            <a:pPr algn="just"/>
            <a:r>
              <a:rPr lang="en-US" sz="2000" dirty="0" smtClean="0">
                <a:effectLst/>
              </a:rPr>
              <a:t>→ Any set that can </a:t>
            </a:r>
            <a:r>
              <a:rPr lang="en-US" sz="2000" b="1" dirty="0" smtClean="0">
                <a:effectLst/>
              </a:rPr>
              <a:t>uniquely identify</a:t>
            </a:r>
            <a:r>
              <a:rPr lang="en-US" sz="2000" dirty="0" smtClean="0">
                <a:effectLst/>
              </a:rPr>
              <a:t> a customer is a </a:t>
            </a:r>
            <a:r>
              <a:rPr lang="en-US" sz="2000" b="1" dirty="0" smtClean="0">
                <a:effectLst/>
              </a:rPr>
              <a:t>Super Key</a:t>
            </a:r>
            <a:r>
              <a:rPr lang="en-US" sz="2000" dirty="0" smtClean="0">
                <a:effectLst/>
              </a:rPr>
              <a:t>.</a:t>
            </a:r>
            <a:endParaRPr lang="en-US" sz="2000" dirty="0">
              <a:effectLst/>
            </a:endParaRPr>
          </a:p>
        </p:txBody>
      </p:sp>
    </p:spTree>
    <p:extLst>
      <p:ext uri="{BB962C8B-B14F-4D97-AF65-F5344CB8AC3E}">
        <p14:creationId xmlns:p14="http://schemas.microsoft.com/office/powerpoint/2010/main" val="12591458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12618" y="848142"/>
            <a:ext cx="8395855" cy="4893647"/>
          </a:xfrm>
          <a:prstGeom prst="rect">
            <a:avLst/>
          </a:prstGeom>
        </p:spPr>
        <p:txBody>
          <a:bodyPr wrap="square">
            <a:spAutoFit/>
          </a:bodyPr>
          <a:lstStyle/>
          <a:p>
            <a:pPr algn="just"/>
            <a:r>
              <a:rPr lang="en-US" sz="2400" b="1" dirty="0" smtClean="0"/>
              <a:t>2. Candidate Key</a:t>
            </a:r>
          </a:p>
          <a:p>
            <a:pPr algn="just"/>
            <a:endParaRPr lang="en-US" sz="2400" b="1" dirty="0" smtClean="0"/>
          </a:p>
          <a:p>
            <a:pPr algn="just"/>
            <a:r>
              <a:rPr lang="en-US" sz="2400" dirty="0" smtClean="0">
                <a:effectLst/>
              </a:rPr>
              <a:t>Simple Definition: A Candidate Key is a minimal super key — the smallest possible combination that can still uniquely identify a row.</a:t>
            </a:r>
          </a:p>
          <a:p>
            <a:pPr algn="just"/>
            <a:r>
              <a:rPr lang="en-US" sz="2400" dirty="0" smtClean="0">
                <a:effectLst/>
              </a:rPr>
              <a:t>example:</a:t>
            </a:r>
          </a:p>
          <a:p>
            <a:pPr algn="just">
              <a:buFont typeface="Arial" panose="020B0604020202020204" pitchFamily="34" charset="0"/>
              <a:buChar char="•"/>
            </a:pPr>
            <a:r>
              <a:rPr lang="en-US" sz="2400" dirty="0" smtClean="0"/>
              <a:t>Customer ID → Candidate Key</a:t>
            </a:r>
          </a:p>
          <a:p>
            <a:pPr algn="just">
              <a:buFont typeface="Arial" panose="020B0604020202020204" pitchFamily="34" charset="0"/>
              <a:buChar char="•"/>
            </a:pPr>
            <a:r>
              <a:rPr lang="en-US" sz="2400" dirty="0" smtClean="0"/>
              <a:t>Email Address → Candidate Key</a:t>
            </a:r>
          </a:p>
          <a:p>
            <a:pPr algn="just">
              <a:buFont typeface="Arial" panose="020B0604020202020204" pitchFamily="34" charset="0"/>
              <a:buChar char="•"/>
            </a:pPr>
            <a:r>
              <a:rPr lang="en-US" sz="2400" dirty="0" smtClean="0"/>
              <a:t>Phone Number → Candidate Key</a:t>
            </a:r>
          </a:p>
          <a:p>
            <a:pPr algn="just"/>
            <a:r>
              <a:rPr lang="en-US" sz="2400" dirty="0" smtClean="0">
                <a:effectLst/>
              </a:rPr>
              <a:t>But </a:t>
            </a:r>
            <a:r>
              <a:rPr lang="en-US" sz="2400" b="1" dirty="0" smtClean="0">
                <a:effectLst/>
              </a:rPr>
              <a:t>(Customer ID + Name) </a:t>
            </a:r>
            <a:r>
              <a:rPr lang="en-US" sz="2400" dirty="0" smtClean="0">
                <a:effectLst/>
              </a:rPr>
              <a:t>is not a candidate key because it has extra columns. You can remove "Name" and Customer ID alone is still enough.</a:t>
            </a:r>
          </a:p>
          <a:p>
            <a:pPr algn="just"/>
            <a:r>
              <a:rPr lang="en-US" sz="2400" dirty="0" smtClean="0">
                <a:effectLst/>
              </a:rPr>
              <a:t>Rule: Candidate keys are the "smallest" possible super keys.</a:t>
            </a:r>
            <a:endParaRPr lang="en-US" sz="2400" dirty="0">
              <a:effectLst/>
            </a:endParaRPr>
          </a:p>
        </p:txBody>
      </p:sp>
    </p:spTree>
    <p:extLst>
      <p:ext uri="{BB962C8B-B14F-4D97-AF65-F5344CB8AC3E}">
        <p14:creationId xmlns:p14="http://schemas.microsoft.com/office/powerpoint/2010/main" val="10287218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260213"/>
            <a:ext cx="7370618" cy="4524315"/>
          </a:xfrm>
          <a:prstGeom prst="rect">
            <a:avLst/>
          </a:prstGeom>
        </p:spPr>
        <p:txBody>
          <a:bodyPr wrap="square">
            <a:spAutoFit/>
          </a:bodyPr>
          <a:lstStyle/>
          <a:p>
            <a:pPr algn="just"/>
            <a:r>
              <a:rPr lang="en-US" sz="2400" b="1" dirty="0" smtClean="0"/>
              <a:t>3. Primary Key</a:t>
            </a:r>
          </a:p>
          <a:p>
            <a:pPr algn="just"/>
            <a:endParaRPr lang="en-US" sz="2400" b="1" dirty="0" smtClean="0"/>
          </a:p>
          <a:p>
            <a:pPr algn="just"/>
            <a:r>
              <a:rPr lang="en-US" sz="2400" b="1" dirty="0" smtClean="0">
                <a:effectLst/>
              </a:rPr>
              <a:t>Simple Definition</a:t>
            </a:r>
            <a:r>
              <a:rPr lang="en-US" sz="2400" dirty="0" smtClean="0">
                <a:effectLst/>
              </a:rPr>
              <a:t>: The </a:t>
            </a:r>
            <a:r>
              <a:rPr lang="en-US" sz="2400" b="1" dirty="0" smtClean="0">
                <a:effectLst/>
              </a:rPr>
              <a:t>Primary Key</a:t>
            </a:r>
            <a:r>
              <a:rPr lang="en-US" sz="2400" dirty="0" smtClean="0">
                <a:effectLst/>
              </a:rPr>
              <a:t> is the </a:t>
            </a:r>
            <a:r>
              <a:rPr lang="en-US" sz="2400" b="1" dirty="0" smtClean="0">
                <a:effectLst/>
              </a:rPr>
              <a:t>main</a:t>
            </a:r>
            <a:r>
              <a:rPr lang="en-US" sz="2400" dirty="0" smtClean="0">
                <a:effectLst/>
              </a:rPr>
              <a:t> candidate key chosen by the database designer.</a:t>
            </a:r>
          </a:p>
          <a:p>
            <a:pPr algn="just"/>
            <a:endParaRPr lang="en-US" sz="2400" dirty="0" smtClean="0">
              <a:effectLst/>
            </a:endParaRPr>
          </a:p>
          <a:p>
            <a:pPr algn="just"/>
            <a:r>
              <a:rPr lang="en-US" sz="2400" b="1" dirty="0" smtClean="0">
                <a:effectLst/>
              </a:rPr>
              <a:t>Rules for Primary Key</a:t>
            </a:r>
            <a:r>
              <a:rPr lang="en-US" sz="2400" dirty="0" smtClean="0">
                <a:effectLst/>
              </a:rPr>
              <a:t>:</a:t>
            </a:r>
          </a:p>
          <a:p>
            <a:pPr algn="just"/>
            <a:endParaRPr lang="en-US" sz="2400" dirty="0" smtClean="0">
              <a:effectLst/>
            </a:endParaRPr>
          </a:p>
          <a:p>
            <a:pPr algn="just">
              <a:buFont typeface="Arial" panose="020B0604020202020204" pitchFamily="34" charset="0"/>
              <a:buChar char="•"/>
            </a:pPr>
            <a:r>
              <a:rPr lang="en-US" sz="2400" dirty="0" smtClean="0"/>
              <a:t>It </a:t>
            </a:r>
            <a:r>
              <a:rPr lang="en-US" sz="2400" b="1" dirty="0" smtClean="0"/>
              <a:t>must be unique</a:t>
            </a:r>
            <a:endParaRPr lang="en-US" sz="2400" dirty="0" smtClean="0"/>
          </a:p>
          <a:p>
            <a:pPr algn="just">
              <a:buFont typeface="Arial" panose="020B0604020202020204" pitchFamily="34" charset="0"/>
              <a:buChar char="•"/>
            </a:pPr>
            <a:r>
              <a:rPr lang="en-US" sz="2400" dirty="0" smtClean="0"/>
              <a:t>It </a:t>
            </a:r>
            <a:r>
              <a:rPr lang="en-US" sz="2400" b="1" dirty="0" smtClean="0"/>
              <a:t>cannot be NULL</a:t>
            </a:r>
            <a:r>
              <a:rPr lang="en-US" sz="2400" dirty="0" smtClean="0"/>
              <a:t> (empty)</a:t>
            </a:r>
          </a:p>
          <a:p>
            <a:pPr algn="just">
              <a:buFont typeface="Arial" panose="020B0604020202020204" pitchFamily="34" charset="0"/>
              <a:buChar char="•"/>
            </a:pPr>
            <a:r>
              <a:rPr lang="en-US" sz="2400" dirty="0" smtClean="0"/>
              <a:t>A table can have </a:t>
            </a:r>
            <a:r>
              <a:rPr lang="en-US" sz="2400" b="1" dirty="0" smtClean="0"/>
              <a:t>only one</a:t>
            </a:r>
            <a:r>
              <a:rPr lang="en-US" sz="2400" dirty="0" smtClean="0"/>
              <a:t> Primary Key</a:t>
            </a:r>
          </a:p>
          <a:p>
            <a:pPr algn="just"/>
            <a:r>
              <a:rPr lang="en-US" sz="2400" b="1" dirty="0" smtClean="0">
                <a:effectLst/>
              </a:rPr>
              <a:t>Example</a:t>
            </a:r>
            <a:r>
              <a:rPr lang="en-US" sz="2400" dirty="0" smtClean="0">
                <a:effectLst/>
              </a:rPr>
              <a:t>: Most companies choose </a:t>
            </a:r>
            <a:r>
              <a:rPr lang="en-US" sz="2400" b="1" dirty="0" smtClean="0">
                <a:effectLst/>
              </a:rPr>
              <a:t>Customer ID</a:t>
            </a:r>
            <a:r>
              <a:rPr lang="en-US" sz="2400" dirty="0" smtClean="0">
                <a:effectLst/>
              </a:rPr>
              <a:t> as the Primary Key.</a:t>
            </a:r>
            <a:endParaRPr lang="en-US" sz="2400" dirty="0">
              <a:effectLst/>
            </a:endParaRPr>
          </a:p>
        </p:txBody>
      </p:sp>
    </p:spTree>
    <p:extLst>
      <p:ext uri="{BB962C8B-B14F-4D97-AF65-F5344CB8AC3E}">
        <p14:creationId xmlns:p14="http://schemas.microsoft.com/office/powerpoint/2010/main" val="34655650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02326" y="1318920"/>
            <a:ext cx="7190509" cy="4154984"/>
          </a:xfrm>
          <a:prstGeom prst="rect">
            <a:avLst/>
          </a:prstGeom>
        </p:spPr>
        <p:txBody>
          <a:bodyPr wrap="square">
            <a:spAutoFit/>
          </a:bodyPr>
          <a:lstStyle/>
          <a:p>
            <a:pPr algn="just"/>
            <a:r>
              <a:rPr lang="en-US" sz="2400" b="1" dirty="0" smtClean="0"/>
              <a:t>4. Alternate Key</a:t>
            </a:r>
          </a:p>
          <a:p>
            <a:pPr algn="just"/>
            <a:endParaRPr lang="en-US" sz="2400" b="1" dirty="0" smtClean="0"/>
          </a:p>
          <a:p>
            <a:pPr algn="just"/>
            <a:r>
              <a:rPr lang="en-US" sz="2400" b="1" dirty="0" smtClean="0">
                <a:effectLst/>
              </a:rPr>
              <a:t>Simple Definition</a:t>
            </a:r>
            <a:r>
              <a:rPr lang="en-US" sz="2400" dirty="0" smtClean="0">
                <a:effectLst/>
              </a:rPr>
              <a:t>: All </a:t>
            </a:r>
            <a:r>
              <a:rPr lang="en-US" sz="2400" b="1" dirty="0" smtClean="0">
                <a:effectLst/>
              </a:rPr>
              <a:t>Candidate Keys</a:t>
            </a:r>
            <a:r>
              <a:rPr lang="en-US" sz="2400" dirty="0" smtClean="0">
                <a:effectLst/>
              </a:rPr>
              <a:t> except the </a:t>
            </a:r>
            <a:r>
              <a:rPr lang="en-US" sz="2400" b="1" dirty="0" smtClean="0">
                <a:effectLst/>
              </a:rPr>
              <a:t>Primary Key</a:t>
            </a:r>
            <a:r>
              <a:rPr lang="en-US" sz="2400" dirty="0" smtClean="0">
                <a:effectLst/>
              </a:rPr>
              <a:t> are called </a:t>
            </a:r>
            <a:r>
              <a:rPr lang="en-US" sz="2400" b="1" dirty="0" smtClean="0">
                <a:effectLst/>
              </a:rPr>
              <a:t>Alternate Keys</a:t>
            </a:r>
            <a:r>
              <a:rPr lang="en-US" sz="2400" dirty="0" smtClean="0">
                <a:effectLst/>
              </a:rPr>
              <a:t>.</a:t>
            </a:r>
          </a:p>
          <a:p>
            <a:pPr algn="just"/>
            <a:endParaRPr lang="en-US" sz="2400" dirty="0" smtClean="0">
              <a:effectLst/>
            </a:endParaRPr>
          </a:p>
          <a:p>
            <a:pPr algn="just"/>
            <a:r>
              <a:rPr lang="en-US" sz="2400" b="1" dirty="0" smtClean="0">
                <a:effectLst/>
              </a:rPr>
              <a:t>Example</a:t>
            </a:r>
            <a:r>
              <a:rPr lang="en-US" sz="2400" dirty="0" smtClean="0">
                <a:effectLst/>
              </a:rPr>
              <a:t>:</a:t>
            </a:r>
          </a:p>
          <a:p>
            <a:pPr algn="just"/>
            <a:endParaRPr lang="en-US" sz="2400" dirty="0" smtClean="0">
              <a:effectLst/>
            </a:endParaRPr>
          </a:p>
          <a:p>
            <a:pPr algn="just">
              <a:buFont typeface="Arial" panose="020B0604020202020204" pitchFamily="34" charset="0"/>
              <a:buChar char="•"/>
            </a:pPr>
            <a:r>
              <a:rPr lang="en-US" sz="2400" dirty="0" smtClean="0"/>
              <a:t>Primary Key = Customer ID</a:t>
            </a:r>
          </a:p>
          <a:p>
            <a:pPr algn="just">
              <a:buFont typeface="Arial" panose="020B0604020202020204" pitchFamily="34" charset="0"/>
              <a:buChar char="•"/>
            </a:pPr>
            <a:r>
              <a:rPr lang="en-US" sz="2400" dirty="0" smtClean="0"/>
              <a:t>Alternate Keys = Email Address, Phone Number</a:t>
            </a:r>
          </a:p>
          <a:p>
            <a:pPr algn="just"/>
            <a:r>
              <a:rPr lang="en-US" sz="2400" dirty="0" smtClean="0">
                <a:effectLst/>
              </a:rPr>
              <a:t>They are good alternatives, but not chosen as the main key.</a:t>
            </a:r>
            <a:endParaRPr lang="en-US" sz="2400" dirty="0">
              <a:effectLst/>
            </a:endParaRPr>
          </a:p>
        </p:txBody>
      </p:sp>
    </p:spTree>
    <p:extLst>
      <p:ext uri="{BB962C8B-B14F-4D97-AF65-F5344CB8AC3E}">
        <p14:creationId xmlns:p14="http://schemas.microsoft.com/office/powerpoint/2010/main" val="3313390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8870" y="1141642"/>
            <a:ext cx="8007929" cy="2723823"/>
          </a:xfrm>
          <a:prstGeom prst="rect">
            <a:avLst/>
          </a:prstGeom>
        </p:spPr>
        <p:txBody>
          <a:bodyPr wrap="square">
            <a:spAutoFit/>
          </a:bodyPr>
          <a:lstStyle/>
          <a:p>
            <a:pPr algn="just"/>
            <a:r>
              <a:rPr lang="en-US" sz="2800" b="1" dirty="0" smtClean="0"/>
              <a:t>5. Foreign Key</a:t>
            </a:r>
          </a:p>
          <a:p>
            <a:pPr algn="just"/>
            <a:endParaRPr lang="en-US" sz="2200" b="1" dirty="0" smtClean="0"/>
          </a:p>
          <a:p>
            <a:pPr marL="342900" indent="-342900">
              <a:lnSpc>
                <a:spcPct val="150000"/>
              </a:lnSpc>
              <a:buFont typeface="Arial" panose="020B0604020202020204" pitchFamily="34" charset="0"/>
              <a:buChar char="•"/>
            </a:pPr>
            <a:r>
              <a:rPr lang="en-US" sz="2200" dirty="0" smtClean="0">
                <a:effectLst/>
              </a:rPr>
              <a:t>A </a:t>
            </a:r>
            <a:r>
              <a:rPr lang="en-US" sz="2200" b="1" dirty="0" smtClean="0">
                <a:effectLst/>
              </a:rPr>
              <a:t>Foreign Key</a:t>
            </a:r>
            <a:r>
              <a:rPr lang="en-US" sz="2200" dirty="0" smtClean="0">
                <a:effectLst/>
              </a:rPr>
              <a:t> is a column in one table that </a:t>
            </a:r>
            <a:r>
              <a:rPr lang="en-US" sz="2200" b="1" dirty="0" smtClean="0">
                <a:effectLst/>
              </a:rPr>
              <a:t>refers to</a:t>
            </a:r>
            <a:r>
              <a:rPr lang="en-US" sz="2200" dirty="0" smtClean="0">
                <a:effectLst/>
              </a:rPr>
              <a:t> the </a:t>
            </a:r>
            <a:r>
              <a:rPr lang="en-US" sz="2200" b="1" dirty="0" smtClean="0">
                <a:effectLst/>
              </a:rPr>
              <a:t>Primary Key</a:t>
            </a:r>
            <a:r>
              <a:rPr lang="en-US" sz="2200" dirty="0" smtClean="0">
                <a:effectLst/>
              </a:rPr>
              <a:t> of another table.</a:t>
            </a:r>
          </a:p>
          <a:p>
            <a:pPr marL="342900" indent="-342900">
              <a:lnSpc>
                <a:spcPct val="150000"/>
              </a:lnSpc>
              <a:buFont typeface="Arial" panose="020B0604020202020204" pitchFamily="34" charset="0"/>
              <a:buChar char="•"/>
            </a:pPr>
            <a:r>
              <a:rPr lang="en-US" sz="2200" dirty="0" smtClean="0">
                <a:effectLst/>
              </a:rPr>
              <a:t>It is used to </a:t>
            </a:r>
            <a:r>
              <a:rPr lang="en-US" sz="2200" b="1" dirty="0" smtClean="0">
                <a:effectLst/>
              </a:rPr>
              <a:t>link two tables</a:t>
            </a:r>
            <a:r>
              <a:rPr lang="en-US" sz="2200" dirty="0" smtClean="0">
                <a:effectLst/>
              </a:rPr>
              <a:t> together.</a:t>
            </a:r>
          </a:p>
          <a:p>
            <a:pPr marL="342900" indent="-342900" algn="just">
              <a:buFont typeface="Arial" panose="020B0604020202020204" pitchFamily="34" charset="0"/>
              <a:buChar char="•"/>
            </a:pPr>
            <a:endParaRPr lang="en-US" sz="2200" dirty="0" smtClean="0">
              <a:effectLst/>
            </a:endParaRPr>
          </a:p>
        </p:txBody>
      </p:sp>
      <p:graphicFrame>
        <p:nvGraphicFramePr>
          <p:cNvPr id="6" name="Table 5"/>
          <p:cNvGraphicFramePr>
            <a:graphicFrameLocks noGrp="1"/>
          </p:cNvGraphicFramePr>
          <p:nvPr>
            <p:extLst>
              <p:ext uri="{D42A27DB-BD31-4B8C-83A1-F6EECF244321}">
                <p14:modId xmlns:p14="http://schemas.microsoft.com/office/powerpoint/2010/main" val="2848313237"/>
              </p:ext>
            </p:extLst>
          </p:nvPr>
        </p:nvGraphicFramePr>
        <p:xfrm>
          <a:off x="1468579" y="3759415"/>
          <a:ext cx="5140038" cy="2572800"/>
        </p:xfrm>
        <a:graphic>
          <a:graphicData uri="http://schemas.openxmlformats.org/drawingml/2006/table">
            <a:tbl>
              <a:tblPr firstRow="1" bandRow="1">
                <a:tableStyleId>{2D5ABB26-0587-4C30-8999-92F81FD0307C}</a:tableStyleId>
              </a:tblPr>
              <a:tblGrid>
                <a:gridCol w="2570019">
                  <a:extLst>
                    <a:ext uri="{9D8B030D-6E8A-4147-A177-3AD203B41FA5}">
                      <a16:colId xmlns:a16="http://schemas.microsoft.com/office/drawing/2014/main" val="3539986401"/>
                    </a:ext>
                  </a:extLst>
                </a:gridCol>
                <a:gridCol w="2570019">
                  <a:extLst>
                    <a:ext uri="{9D8B030D-6E8A-4147-A177-3AD203B41FA5}">
                      <a16:colId xmlns:a16="http://schemas.microsoft.com/office/drawing/2014/main" val="1301407602"/>
                    </a:ext>
                  </a:extLst>
                </a:gridCol>
              </a:tblGrid>
              <a:tr h="78348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smtClean="0"/>
                        <a:t>1) Department Table:</a:t>
                      </a:r>
                    </a:p>
                    <a:p>
                      <a:pPr algn="l"/>
                      <a:endParaRPr lang="en-IN"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2000" dirty="0" smtClean="0"/>
                        <a:t>a) Employee Table:</a:t>
                      </a:r>
                    </a:p>
                    <a:p>
                      <a:pPr algn="l"/>
                      <a:endParaRPr lang="en-IN"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0573963"/>
                  </a:ext>
                </a:extLst>
              </a:tr>
              <a:tr h="783480">
                <a:tc>
                  <a:txBody>
                    <a:bodyPr/>
                    <a:lstStyle/>
                    <a:p>
                      <a:pPr marL="342900" marR="0" lvl="0"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smtClean="0"/>
                        <a:t>DeptID (Primary Key)</a:t>
                      </a:r>
                    </a:p>
                    <a:p>
                      <a:pPr marL="342900" indent="-342900" algn="l">
                        <a:buFont typeface="Arial" panose="020B0604020202020204" pitchFamily="34" charset="0"/>
                        <a:buChar char="•"/>
                      </a:pPr>
                      <a:endParaRPr lang="en-IN"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smtClean="0"/>
                        <a:t>EmpID (Primary Key)</a:t>
                      </a:r>
                    </a:p>
                    <a:p>
                      <a:pPr marL="342900" indent="-342900" algn="l">
                        <a:buFont typeface="Arial" panose="020B0604020202020204" pitchFamily="34" charset="0"/>
                        <a:buChar char="•"/>
                      </a:pPr>
                      <a:endParaRPr lang="en-IN"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6760656"/>
                  </a:ext>
                </a:extLst>
              </a:tr>
              <a:tr h="783480">
                <a:tc>
                  <a:txBody>
                    <a:bodyPr/>
                    <a:lstStyle/>
                    <a:p>
                      <a:pPr marL="342900" marR="0" lvl="0"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smtClean="0"/>
                        <a:t>DeptName</a:t>
                      </a:r>
                    </a:p>
                    <a:p>
                      <a:pPr marL="342900" indent="-342900" algn="l">
                        <a:buFont typeface="Arial" panose="020B0604020202020204" pitchFamily="34" charset="0"/>
                        <a:buChar char="•"/>
                      </a:pPr>
                      <a:endParaRPr lang="en-IN"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smtClean="0"/>
                        <a:t>Name</a:t>
                      </a:r>
                    </a:p>
                    <a:p>
                      <a:pPr marL="342900" indent="-342900" algn="l">
                        <a:buFont typeface="Arial" panose="020B0604020202020204" pitchFamily="34" charset="0"/>
                        <a:buChar char="•"/>
                      </a:pPr>
                      <a:endParaRPr lang="en-IN"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7921823"/>
                  </a:ext>
                </a:extLst>
              </a:tr>
            </a:tbl>
          </a:graphicData>
        </a:graphic>
      </p:graphicFrame>
    </p:spTree>
    <p:extLst>
      <p:ext uri="{BB962C8B-B14F-4D97-AF65-F5344CB8AC3E}">
        <p14:creationId xmlns:p14="http://schemas.microsoft.com/office/powerpoint/2010/main" val="33908361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9092" y="1690347"/>
            <a:ext cx="6761017" cy="3416320"/>
          </a:xfrm>
          <a:prstGeom prst="rect">
            <a:avLst/>
          </a:prstGeom>
        </p:spPr>
        <p:txBody>
          <a:bodyPr wrap="square">
            <a:spAutoFit/>
          </a:bodyPr>
          <a:lstStyle/>
          <a:p>
            <a:pPr algn="just">
              <a:lnSpc>
                <a:spcPct val="150000"/>
              </a:lnSpc>
            </a:pPr>
            <a:r>
              <a:rPr lang="en-US" sz="2400" b="1" dirty="0" smtClean="0"/>
              <a:t>DeptID</a:t>
            </a:r>
            <a:r>
              <a:rPr lang="en-US" sz="2400" dirty="0" smtClean="0"/>
              <a:t> </a:t>
            </a:r>
            <a:r>
              <a:rPr lang="en-US" sz="2400" dirty="0"/>
              <a:t>← This is a </a:t>
            </a:r>
            <a:r>
              <a:rPr lang="en-US" sz="2400" b="1" dirty="0"/>
              <a:t>Foreign Key</a:t>
            </a:r>
            <a:endParaRPr lang="en-US" sz="2400" dirty="0"/>
          </a:p>
          <a:p>
            <a:pPr marL="342900" indent="-342900" algn="just">
              <a:lnSpc>
                <a:spcPct val="150000"/>
              </a:lnSpc>
              <a:buFont typeface="Arial" panose="020B0604020202020204" pitchFamily="34" charset="0"/>
              <a:buChar char="•"/>
            </a:pPr>
            <a:r>
              <a:rPr lang="en-US" sz="2400" dirty="0"/>
              <a:t>Here DeptID in Employee table links to DeptID in Department table.</a:t>
            </a:r>
          </a:p>
          <a:p>
            <a:pPr algn="just">
              <a:lnSpc>
                <a:spcPct val="150000"/>
              </a:lnSpc>
            </a:pPr>
            <a:r>
              <a:rPr lang="en-US" sz="2400" b="1" dirty="0"/>
              <a:t>Main Purpose of Foreign Key</a:t>
            </a:r>
            <a:r>
              <a:rPr lang="en-US" sz="2400" dirty="0"/>
              <a:t>:</a:t>
            </a:r>
          </a:p>
          <a:p>
            <a:pPr marL="342900" indent="-342900" algn="just">
              <a:lnSpc>
                <a:spcPct val="150000"/>
              </a:lnSpc>
              <a:buFont typeface="Arial" panose="020B0604020202020204" pitchFamily="34" charset="0"/>
              <a:buChar char="•"/>
            </a:pPr>
            <a:r>
              <a:rPr lang="en-US" sz="2400" dirty="0"/>
              <a:t>Maintain </a:t>
            </a:r>
            <a:r>
              <a:rPr lang="en-US" sz="2400" b="1" dirty="0"/>
              <a:t>Referential Integrity</a:t>
            </a:r>
            <a:r>
              <a:rPr lang="en-US" sz="2400" dirty="0"/>
              <a:t> (It prevents you from adding wrong or invalid data)</a:t>
            </a:r>
          </a:p>
        </p:txBody>
      </p:sp>
    </p:spTree>
    <p:extLst>
      <p:ext uri="{BB962C8B-B14F-4D97-AF65-F5344CB8AC3E}">
        <p14:creationId xmlns:p14="http://schemas.microsoft.com/office/powerpoint/2010/main" val="11003631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1381" y="1097385"/>
            <a:ext cx="7841674" cy="4893647"/>
          </a:xfrm>
          <a:prstGeom prst="rect">
            <a:avLst/>
          </a:prstGeom>
        </p:spPr>
        <p:txBody>
          <a:bodyPr wrap="square">
            <a:spAutoFit/>
          </a:bodyPr>
          <a:lstStyle/>
          <a:p>
            <a:pPr algn="just"/>
            <a:r>
              <a:rPr lang="en-US" sz="2400" b="1" dirty="0" smtClean="0"/>
              <a:t>What is a Composite Key?</a:t>
            </a:r>
          </a:p>
          <a:p>
            <a:pPr algn="just"/>
            <a:endParaRPr lang="en-US" sz="2400" b="1" dirty="0" smtClean="0"/>
          </a:p>
          <a:p>
            <a:pPr algn="just"/>
            <a:r>
              <a:rPr lang="en-US" sz="2400" dirty="0" smtClean="0">
                <a:effectLst/>
              </a:rPr>
              <a:t>A </a:t>
            </a:r>
            <a:r>
              <a:rPr lang="en-US" sz="2400" b="1" dirty="0" smtClean="0">
                <a:effectLst/>
              </a:rPr>
              <a:t>Composite Key</a:t>
            </a:r>
            <a:r>
              <a:rPr lang="en-US" sz="2400" dirty="0" smtClean="0">
                <a:effectLst/>
              </a:rPr>
              <a:t> is a key made up of </a:t>
            </a:r>
            <a:r>
              <a:rPr lang="en-US" sz="2400" b="1" dirty="0" smtClean="0">
                <a:effectLst/>
              </a:rPr>
              <a:t>two or more columns</a:t>
            </a:r>
            <a:r>
              <a:rPr lang="en-US" sz="2400" dirty="0" smtClean="0">
                <a:effectLst/>
              </a:rPr>
              <a:t> together that </a:t>
            </a:r>
            <a:r>
              <a:rPr lang="en-US" sz="2400" b="1" dirty="0" smtClean="0">
                <a:effectLst/>
              </a:rPr>
              <a:t>uniquely identify</a:t>
            </a:r>
            <a:r>
              <a:rPr lang="en-US" sz="2400" dirty="0" smtClean="0">
                <a:effectLst/>
              </a:rPr>
              <a:t> each row in a table.</a:t>
            </a:r>
          </a:p>
          <a:p>
            <a:pPr algn="just">
              <a:buFont typeface="Arial" panose="020B0604020202020204" pitchFamily="34" charset="0"/>
              <a:buChar char="•"/>
            </a:pPr>
            <a:r>
              <a:rPr lang="en-US" sz="2400" dirty="0" smtClean="0"/>
              <a:t>Single column is </a:t>
            </a:r>
            <a:r>
              <a:rPr lang="en-US" sz="2400" b="1" dirty="0" smtClean="0"/>
              <a:t>not enough</a:t>
            </a:r>
            <a:r>
              <a:rPr lang="en-US" sz="2400" dirty="0" smtClean="0"/>
              <a:t> to make every row unique.</a:t>
            </a:r>
          </a:p>
          <a:p>
            <a:pPr algn="just"/>
            <a:endParaRPr lang="en-US" sz="2400" dirty="0" smtClean="0"/>
          </a:p>
          <a:p>
            <a:pPr algn="just">
              <a:buFont typeface="Arial" panose="020B0604020202020204" pitchFamily="34" charset="0"/>
              <a:buChar char="•"/>
            </a:pPr>
            <a:r>
              <a:rPr lang="en-US" sz="2400" dirty="0" smtClean="0"/>
              <a:t>But when you </a:t>
            </a:r>
            <a:r>
              <a:rPr lang="en-US" sz="2400" b="1" dirty="0" smtClean="0"/>
              <a:t>combine</a:t>
            </a:r>
            <a:r>
              <a:rPr lang="en-US" sz="2400" dirty="0" smtClean="0"/>
              <a:t> 2 or more columns, their combination becomes unique.</a:t>
            </a:r>
          </a:p>
          <a:p>
            <a:pPr algn="just"/>
            <a:r>
              <a:rPr lang="en-US" sz="2400" dirty="0" smtClean="0">
                <a:effectLst/>
              </a:rPr>
              <a:t>It is also called a </a:t>
            </a:r>
            <a:r>
              <a:rPr lang="en-US" sz="2400" b="1" dirty="0" smtClean="0">
                <a:effectLst/>
              </a:rPr>
              <a:t>Compound Key</a:t>
            </a:r>
            <a:r>
              <a:rPr lang="en-US" sz="2400" dirty="0" smtClean="0">
                <a:effectLst/>
              </a:rPr>
              <a:t> sometimes.</a:t>
            </a:r>
          </a:p>
          <a:p>
            <a:pPr algn="just"/>
            <a:endParaRPr lang="en-US" sz="2400" dirty="0" smtClean="0">
              <a:effectLst/>
            </a:endParaRPr>
          </a:p>
          <a:p>
            <a:pPr algn="just"/>
            <a:r>
              <a:rPr lang="en-US" sz="2400" b="1" dirty="0" smtClean="0">
                <a:effectLst/>
              </a:rPr>
              <a:t>Important</a:t>
            </a:r>
            <a:r>
              <a:rPr lang="en-US" sz="2400" dirty="0" smtClean="0">
                <a:effectLst/>
              </a:rPr>
              <a:t>: A composite key is usually used as a </a:t>
            </a:r>
            <a:r>
              <a:rPr lang="en-US" sz="2400" b="1" dirty="0" smtClean="0">
                <a:effectLst/>
              </a:rPr>
              <a:t>Primary Key</a:t>
            </a:r>
            <a:r>
              <a:rPr lang="en-US" sz="2400" dirty="0" smtClean="0">
                <a:effectLst/>
              </a:rPr>
              <a:t> (or it can be a Candidate Key).</a:t>
            </a:r>
          </a:p>
          <a:p>
            <a:pPr algn="just"/>
            <a:r>
              <a:rPr lang="en-US" sz="2400" b="1" dirty="0" smtClean="0"/>
              <a:t>Easy Real-Life Example</a:t>
            </a:r>
            <a:endParaRPr lang="en-US" sz="2400" b="1" dirty="0"/>
          </a:p>
        </p:txBody>
      </p:sp>
    </p:spTree>
    <p:extLst>
      <p:ext uri="{BB962C8B-B14F-4D97-AF65-F5344CB8AC3E}">
        <p14:creationId xmlns:p14="http://schemas.microsoft.com/office/powerpoint/2010/main" val="20051161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46423771"/>
              </p:ext>
            </p:extLst>
          </p:nvPr>
        </p:nvGraphicFramePr>
        <p:xfrm>
          <a:off x="503958" y="1194018"/>
          <a:ext cx="8279823" cy="4774612"/>
        </p:xfrm>
        <a:graphic>
          <a:graphicData uri="http://schemas.openxmlformats.org/drawingml/2006/table">
            <a:tbl>
              <a:tblPr>
                <a:tableStyleId>{616DA210-FB5B-4158-B5E0-FEB733F419BA}</a:tableStyleId>
              </a:tblPr>
              <a:tblGrid>
                <a:gridCol w="2266951">
                  <a:extLst>
                    <a:ext uri="{9D8B030D-6E8A-4147-A177-3AD203B41FA5}">
                      <a16:colId xmlns:a16="http://schemas.microsoft.com/office/drawing/2014/main" val="4140688829"/>
                    </a:ext>
                  </a:extLst>
                </a:gridCol>
                <a:gridCol w="3252931">
                  <a:extLst>
                    <a:ext uri="{9D8B030D-6E8A-4147-A177-3AD203B41FA5}">
                      <a16:colId xmlns:a16="http://schemas.microsoft.com/office/drawing/2014/main" val="3476601384"/>
                    </a:ext>
                  </a:extLst>
                </a:gridCol>
                <a:gridCol w="2759941">
                  <a:extLst>
                    <a:ext uri="{9D8B030D-6E8A-4147-A177-3AD203B41FA5}">
                      <a16:colId xmlns:a16="http://schemas.microsoft.com/office/drawing/2014/main" val="2077409907"/>
                    </a:ext>
                  </a:extLst>
                </a:gridCol>
              </a:tblGrid>
              <a:tr h="648302">
                <a:tc>
                  <a:txBody>
                    <a:bodyPr/>
                    <a:lstStyle/>
                    <a:p>
                      <a:pPr algn="ctr"/>
                      <a:r>
                        <a:rPr lang="en-IN" sz="2000" dirty="0"/>
                        <a:t>Key Type</a:t>
                      </a:r>
                    </a:p>
                  </a:txBody>
                  <a:tcPr anchor="ctr"/>
                </a:tc>
                <a:tc>
                  <a:txBody>
                    <a:bodyPr/>
                    <a:lstStyle/>
                    <a:p>
                      <a:pPr algn="ctr"/>
                      <a:r>
                        <a:rPr lang="en-IN" sz="2000" dirty="0"/>
                        <a:t>Meaning in Simple Words</a:t>
                      </a:r>
                    </a:p>
                  </a:txBody>
                  <a:tcPr anchor="ctr"/>
                </a:tc>
                <a:tc>
                  <a:txBody>
                    <a:bodyPr/>
                    <a:lstStyle/>
                    <a:p>
                      <a:pPr algn="ctr"/>
                      <a:r>
                        <a:rPr lang="en-IN" sz="2000" dirty="0"/>
                        <a:t>How Many Allowed?</a:t>
                      </a:r>
                    </a:p>
                  </a:txBody>
                  <a:tcPr anchor="ctr"/>
                </a:tc>
                <a:extLst>
                  <a:ext uri="{0D108BD9-81ED-4DB2-BD59-A6C34878D82A}">
                    <a16:rowId xmlns:a16="http://schemas.microsoft.com/office/drawing/2014/main" val="1527931437"/>
                  </a:ext>
                </a:extLst>
              </a:tr>
              <a:tr h="925656">
                <a:tc>
                  <a:txBody>
                    <a:bodyPr/>
                    <a:lstStyle/>
                    <a:p>
                      <a:pPr algn="ctr"/>
                      <a:r>
                        <a:rPr lang="en-IN" sz="2000" dirty="0"/>
                        <a:t>Super Key</a:t>
                      </a:r>
                    </a:p>
                  </a:txBody>
                  <a:tcPr anchor="ctr"/>
                </a:tc>
                <a:tc>
                  <a:txBody>
                    <a:bodyPr/>
                    <a:lstStyle/>
                    <a:p>
                      <a:pPr algn="ctr"/>
                      <a:r>
                        <a:rPr lang="en-US" sz="2000" dirty="0"/>
                        <a:t>Any combination that uniquely identifies a row</a:t>
                      </a:r>
                    </a:p>
                  </a:txBody>
                  <a:tcPr anchor="ctr"/>
                </a:tc>
                <a:tc>
                  <a:txBody>
                    <a:bodyPr/>
                    <a:lstStyle/>
                    <a:p>
                      <a:pPr algn="ctr"/>
                      <a:r>
                        <a:rPr lang="en-IN" sz="2000" dirty="0"/>
                        <a:t>Many</a:t>
                      </a:r>
                    </a:p>
                  </a:txBody>
                  <a:tcPr anchor="ctr"/>
                </a:tc>
                <a:extLst>
                  <a:ext uri="{0D108BD9-81ED-4DB2-BD59-A6C34878D82A}">
                    <a16:rowId xmlns:a16="http://schemas.microsoft.com/office/drawing/2014/main" val="2588011020"/>
                  </a:ext>
                </a:extLst>
              </a:tr>
              <a:tr h="648302">
                <a:tc>
                  <a:txBody>
                    <a:bodyPr/>
                    <a:lstStyle/>
                    <a:p>
                      <a:pPr algn="ctr"/>
                      <a:r>
                        <a:rPr lang="en-IN" sz="2000" dirty="0"/>
                        <a:t>Candidate Key</a:t>
                      </a:r>
                    </a:p>
                  </a:txBody>
                  <a:tcPr anchor="ctr"/>
                </a:tc>
                <a:tc>
                  <a:txBody>
                    <a:bodyPr/>
                    <a:lstStyle/>
                    <a:p>
                      <a:pPr algn="ctr"/>
                      <a:r>
                        <a:rPr lang="en-IN" sz="2000" dirty="0"/>
                        <a:t>Smallest possible super key</a:t>
                      </a:r>
                    </a:p>
                  </a:txBody>
                  <a:tcPr anchor="ctr"/>
                </a:tc>
                <a:tc>
                  <a:txBody>
                    <a:bodyPr/>
                    <a:lstStyle/>
                    <a:p>
                      <a:pPr algn="ctr"/>
                      <a:r>
                        <a:rPr lang="en-IN" sz="2000" dirty="0"/>
                        <a:t>Many</a:t>
                      </a:r>
                    </a:p>
                  </a:txBody>
                  <a:tcPr anchor="ctr"/>
                </a:tc>
                <a:extLst>
                  <a:ext uri="{0D108BD9-81ED-4DB2-BD59-A6C34878D82A}">
                    <a16:rowId xmlns:a16="http://schemas.microsoft.com/office/drawing/2014/main" val="3114151458"/>
                  </a:ext>
                </a:extLst>
              </a:tr>
              <a:tr h="925656">
                <a:tc>
                  <a:txBody>
                    <a:bodyPr/>
                    <a:lstStyle/>
                    <a:p>
                      <a:pPr algn="ctr"/>
                      <a:r>
                        <a:rPr lang="en-IN" sz="2000" dirty="0"/>
                        <a:t>Primary Key</a:t>
                      </a:r>
                    </a:p>
                  </a:txBody>
                  <a:tcPr anchor="ctr"/>
                </a:tc>
                <a:tc>
                  <a:txBody>
                    <a:bodyPr/>
                    <a:lstStyle/>
                    <a:p>
                      <a:pPr algn="ctr"/>
                      <a:r>
                        <a:rPr lang="en-IN" sz="2000" dirty="0"/>
                        <a:t>Main unique identifier (chosen one)</a:t>
                      </a:r>
                    </a:p>
                  </a:txBody>
                  <a:tcPr anchor="ctr"/>
                </a:tc>
                <a:tc>
                  <a:txBody>
                    <a:bodyPr/>
                    <a:lstStyle/>
                    <a:p>
                      <a:pPr algn="ctr"/>
                      <a:r>
                        <a:rPr lang="en-IN" sz="2000" dirty="0"/>
                        <a:t>Only 1 per table</a:t>
                      </a:r>
                    </a:p>
                  </a:txBody>
                  <a:tcPr anchor="ctr"/>
                </a:tc>
                <a:extLst>
                  <a:ext uri="{0D108BD9-81ED-4DB2-BD59-A6C34878D82A}">
                    <a16:rowId xmlns:a16="http://schemas.microsoft.com/office/drawing/2014/main" val="2240544534"/>
                  </a:ext>
                </a:extLst>
              </a:tr>
              <a:tr h="925656">
                <a:tc>
                  <a:txBody>
                    <a:bodyPr/>
                    <a:lstStyle/>
                    <a:p>
                      <a:pPr algn="ctr"/>
                      <a:r>
                        <a:rPr lang="en-IN" sz="2000" dirty="0"/>
                        <a:t>Alternate Key</a:t>
                      </a:r>
                    </a:p>
                  </a:txBody>
                  <a:tcPr anchor="ctr"/>
                </a:tc>
                <a:tc>
                  <a:txBody>
                    <a:bodyPr/>
                    <a:lstStyle/>
                    <a:p>
                      <a:pPr algn="ctr"/>
                      <a:r>
                        <a:rPr lang="en-US" sz="2000" dirty="0"/>
                        <a:t>Other candidate keys (not chosen as primary)</a:t>
                      </a:r>
                    </a:p>
                  </a:txBody>
                  <a:tcPr anchor="ctr"/>
                </a:tc>
                <a:tc>
                  <a:txBody>
                    <a:bodyPr/>
                    <a:lstStyle/>
                    <a:p>
                      <a:pPr algn="ctr"/>
                      <a:r>
                        <a:rPr lang="en-IN" sz="2000" dirty="0"/>
                        <a:t>Many</a:t>
                      </a:r>
                    </a:p>
                  </a:txBody>
                  <a:tcPr anchor="ctr"/>
                </a:tc>
                <a:extLst>
                  <a:ext uri="{0D108BD9-81ED-4DB2-BD59-A6C34878D82A}">
                    <a16:rowId xmlns:a16="http://schemas.microsoft.com/office/drawing/2014/main" val="2631572904"/>
                  </a:ext>
                </a:extLst>
              </a:tr>
              <a:tr h="648302">
                <a:tc>
                  <a:txBody>
                    <a:bodyPr/>
                    <a:lstStyle/>
                    <a:p>
                      <a:pPr algn="ctr"/>
                      <a:r>
                        <a:rPr lang="en-IN" sz="2000" dirty="0"/>
                        <a:t>Foreign Key</a:t>
                      </a:r>
                    </a:p>
                  </a:txBody>
                  <a:tcPr anchor="ctr"/>
                </a:tc>
                <a:tc>
                  <a:txBody>
                    <a:bodyPr/>
                    <a:lstStyle/>
                    <a:p>
                      <a:pPr algn="ctr"/>
                      <a:r>
                        <a:rPr lang="en-US" sz="2000" dirty="0"/>
                        <a:t>Link to another table's primary key</a:t>
                      </a:r>
                    </a:p>
                  </a:txBody>
                  <a:tcPr anchor="ctr"/>
                </a:tc>
                <a:tc>
                  <a:txBody>
                    <a:bodyPr/>
                    <a:lstStyle/>
                    <a:p>
                      <a:pPr algn="ctr"/>
                      <a:r>
                        <a:rPr lang="en-IN" sz="2000" dirty="0"/>
                        <a:t>Many</a:t>
                      </a:r>
                    </a:p>
                  </a:txBody>
                  <a:tcPr anchor="ctr"/>
                </a:tc>
                <a:extLst>
                  <a:ext uri="{0D108BD9-81ED-4DB2-BD59-A6C34878D82A}">
                    <a16:rowId xmlns:a16="http://schemas.microsoft.com/office/drawing/2014/main" val="1354959064"/>
                  </a:ext>
                </a:extLst>
              </a:tr>
            </a:tbl>
          </a:graphicData>
        </a:graphic>
      </p:graphicFrame>
    </p:spTree>
    <p:extLst>
      <p:ext uri="{BB962C8B-B14F-4D97-AF65-F5344CB8AC3E}">
        <p14:creationId xmlns:p14="http://schemas.microsoft.com/office/powerpoint/2010/main" val="23665773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9418" y="1152620"/>
            <a:ext cx="4765964" cy="4262705"/>
          </a:xfrm>
          <a:prstGeom prst="rect">
            <a:avLst/>
          </a:prstGeom>
        </p:spPr>
        <p:txBody>
          <a:bodyPr wrap="square">
            <a:spAutoFit/>
          </a:bodyPr>
          <a:lstStyle/>
          <a:p>
            <a:r>
              <a:rPr lang="en-IN" sz="2800" b="1" dirty="0"/>
              <a:t>SQL Commands </a:t>
            </a:r>
            <a:r>
              <a:rPr lang="en-IN" sz="2800" b="1" dirty="0" smtClean="0"/>
              <a:t>:-</a:t>
            </a:r>
          </a:p>
          <a:p>
            <a:pPr algn="just">
              <a:lnSpc>
                <a:spcPct val="150000"/>
              </a:lnSpc>
            </a:pPr>
            <a:r>
              <a:rPr lang="en-IN" dirty="0"/>
              <a:t/>
            </a:r>
            <a:br>
              <a:rPr lang="en-IN" dirty="0"/>
            </a:br>
            <a:r>
              <a:rPr lang="en-IN" sz="2400" dirty="0" smtClean="0"/>
              <a:t>Used </a:t>
            </a:r>
            <a:r>
              <a:rPr lang="en-IN" sz="2400" dirty="0"/>
              <a:t>to:</a:t>
            </a:r>
          </a:p>
          <a:p>
            <a:pPr algn="just">
              <a:lnSpc>
                <a:spcPct val="150000"/>
              </a:lnSpc>
              <a:buFont typeface="Arial" panose="020B0604020202020204" pitchFamily="34" charset="0"/>
              <a:buChar char="•"/>
            </a:pPr>
            <a:r>
              <a:rPr lang="en-IN" sz="2400" dirty="0"/>
              <a:t>Store data </a:t>
            </a:r>
          </a:p>
          <a:p>
            <a:pPr algn="just">
              <a:lnSpc>
                <a:spcPct val="150000"/>
              </a:lnSpc>
              <a:buFont typeface="Arial" panose="020B0604020202020204" pitchFamily="34" charset="0"/>
              <a:buChar char="•"/>
            </a:pPr>
            <a:r>
              <a:rPr lang="en-IN" sz="2400" dirty="0"/>
              <a:t>Retrieve data </a:t>
            </a:r>
          </a:p>
          <a:p>
            <a:pPr algn="just">
              <a:lnSpc>
                <a:spcPct val="150000"/>
              </a:lnSpc>
              <a:buFont typeface="Arial" panose="020B0604020202020204" pitchFamily="34" charset="0"/>
              <a:buChar char="•"/>
            </a:pPr>
            <a:r>
              <a:rPr lang="en-IN" sz="2400" dirty="0"/>
              <a:t>Update data </a:t>
            </a:r>
          </a:p>
          <a:p>
            <a:pPr algn="just">
              <a:lnSpc>
                <a:spcPct val="150000"/>
              </a:lnSpc>
              <a:buFont typeface="Arial" panose="020B0604020202020204" pitchFamily="34" charset="0"/>
              <a:buChar char="•"/>
            </a:pPr>
            <a:r>
              <a:rPr lang="en-IN" sz="2400" dirty="0"/>
              <a:t>Delete data </a:t>
            </a:r>
          </a:p>
          <a:p>
            <a:pPr algn="just">
              <a:lnSpc>
                <a:spcPct val="150000"/>
              </a:lnSpc>
              <a:buFont typeface="Arial" panose="020B0604020202020204" pitchFamily="34" charset="0"/>
              <a:buChar char="•"/>
            </a:pPr>
            <a:r>
              <a:rPr lang="en-IN" sz="2400" dirty="0"/>
              <a:t>Manage databases </a:t>
            </a:r>
          </a:p>
        </p:txBody>
      </p:sp>
    </p:spTree>
    <p:extLst>
      <p:ext uri="{BB962C8B-B14F-4D97-AF65-F5344CB8AC3E}">
        <p14:creationId xmlns:p14="http://schemas.microsoft.com/office/powerpoint/2010/main" val="23238446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490" y="1039091"/>
            <a:ext cx="8298873" cy="4890655"/>
          </a:xfrm>
          <a:prstGeom prst="rect">
            <a:avLst/>
          </a:prstGeom>
        </p:spPr>
      </p:pic>
    </p:spTree>
    <p:extLst>
      <p:ext uri="{BB962C8B-B14F-4D97-AF65-F5344CB8AC3E}">
        <p14:creationId xmlns:p14="http://schemas.microsoft.com/office/powerpoint/2010/main" val="2736095399"/>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2268</TotalTime>
  <Words>2537</Words>
  <Application>Microsoft Office PowerPoint</Application>
  <PresentationFormat>On-screen Show (4:3)</PresentationFormat>
  <Paragraphs>489</Paragraphs>
  <Slides>56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MS Gothic</vt:lpstr>
      <vt:lpstr>MS Mincho</vt:lpstr>
      <vt:lpstr>Arial</vt:lpstr>
      <vt:lpstr>Calibri</vt:lpstr>
      <vt:lpstr>Cambria</vt:lpstr>
      <vt:lpstr>Times New Roman</vt:lpstr>
      <vt:lpstr>Tw Cen MT</vt:lpstr>
      <vt:lpstr>Wingdings</vt:lpstr>
      <vt:lpstr>Droplet</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Basics</dc:title>
  <dc:subject/>
  <dc:creator/>
  <cp:keywords/>
  <dc:description>generated using python-pptx</dc:description>
  <cp:lastModifiedBy>hp</cp:lastModifiedBy>
  <cp:revision>105</cp:revision>
  <dcterms:created xsi:type="dcterms:W3CDTF">2013-01-27T09:14:16Z</dcterms:created>
  <dcterms:modified xsi:type="dcterms:W3CDTF">2026-08-01T05:57:12Z</dcterms:modified>
  <cp:category/>
</cp:coreProperties>
</file>